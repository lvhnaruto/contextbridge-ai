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Open with the hook: "Raise your hand if you've ever scrubbed a 45-minute video to find the 10 seconds you needed." Then point at two or three of these, not all five.</a:t>
            </a:r>
          </a:p>
          <a:p>
            <a:r>
              <a:t>Key line: "People already learn from video. They don't finish, they don't trust AI answers, and most new learners in India don't learn in English."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 Walk the math left to right. Be explicit it's a model: "Take a 50-person engineering team that onboards from recorded trainings. 10 lookups a day, about 3 minutes each to scrub and re-watch. That's 6,000 hours a year - roughly $300,000 - spent finding things that were already recorded."</a:t>
            </a:r>
          </a:p>
          <a:p>
            <a:r>
              <a:t>Then the hidden cost: a confident wrong AI answer means rework, bugs and lost trust.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Zero jargon. "You pick a video. You ask a question - typing or speaking, in English or Hindi. ContextBridge answers only from that video, shows you the exact words, and one click jumps the video to that moment. If the video doesn't cover it, it tells you honestly, and can look it up on the web - clearly labeled as 'beyond this video'." Then: "Let me show you."</a:t>
            </a:r>
          </a:p>
          <a:p>
            <a:r>
              <a:t>[~2:00] LIVE DEMO: 1. Landing page -&gt; 'Try the demo lesson'. 2. Ask an in-video question -&gt; point at the 'Verified' badge + quote -&gt; click 'Jump to' -&gt; video seeks, transcript scrolls. 3. Click an 'Explore from here' chip. 4. Ask something NOT in the video -&gt; honest 'Beyond this video' card with web sources. 5. Hindi / Hinglish voice question -&gt; Hindi answer, read aloud. Backup video (2:42): https://youtu.be/Tf0LZE93oxw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 Read only the big numbers: "Finding the moment: minutes before, seconds after. Invented quotes: unknown before, zero after - measured on our 25-question test set. For our 50-person team model: 6,000 hours down to about 400."</a:t>
            </a:r>
          </a:p>
          <a:p>
            <a:r>
              <a:t>Measured numbers come from context/eval_results.json (25 cases: 100% timestamp accuracy, 100% grounded, 0% unsupported, 6.2s average). 'Before' values and the team model are estimates.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optional - skip if short on time] "A video is analysed once into a validated index. Every question runs a small agent: find the evidence, draft an answer, then CHECK that the quote really appears in the transcript and the timestamp is real. If the check fails it retries once, then says 'not found' instead of inventing. Web research is a separate, labeled branch. All on Google Cloud Run with Gemini 2.5 Flash."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"I'm Mohit Singh, leading Team Naruto, with Shanu Gupta on frontend. I bring 10+ years of enterprise engineering - systems that have to be reliable, measured and secure. That's why ContextBridge is already live on Google Cloud, tested, and measured - not a mock-up." Close: "Not a tutor - a compass. Every answer anchored to your video, with proof.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lgn="l"/>
            <a:r>
              <a:rPr sz="1200" b="1">
                <a:solidFill>
                  <a:srgbClr val="818CF8"/>
                </a:solidFill>
                <a:latin typeface="Segoe UI"/>
              </a:rPr>
              <a:t>EVIDENCE</a:t>
            </a:r>
          </a:p>
        </p:txBody>
      </p:sp>
      <p:sp>
        <p:nvSpPr>
          <p:cNvPr id="3" name="TextBox 2"/>
          <p:cNvSpPr txBox="1"/>
          <p:nvPr/>
        </p:nvSpPr>
        <p:spPr>
          <a:xfrm>
            <a:off x="10241280" y="320040"/>
            <a:ext cx="1371600" cy="365760"/>
          </a:xfrm>
          <a:prstGeom prst="rect">
            <a:avLst/>
          </a:prstGeom>
          <a:noFill/>
        </p:spPr>
        <p:txBody>
          <a:bodyPr wrap="square">
            <a:spAutoFit/>
          </a:bodyPr>
          <a:lstStyle/>
          <a:p>
            <a:pPr algn="r"/>
            <a:r>
              <a:rPr sz="1200" b="0">
                <a:solidFill>
                  <a:srgbClr val="94A3B8"/>
                </a:solidFill>
                <a:latin typeface="Segoe UI"/>
              </a:rPr>
              <a:t>01 / 06</a:t>
            </a:r>
          </a:p>
        </p:txBody>
      </p:sp>
      <p:sp>
        <p:nvSpPr>
          <p:cNvPr id="4" name="TextBox 3"/>
          <p:cNvSpPr txBox="1"/>
          <p:nvPr/>
        </p:nvSpPr>
        <p:spPr>
          <a:xfrm>
            <a:off x="548640" y="685800"/>
            <a:ext cx="11064240" cy="914400"/>
          </a:xfrm>
          <a:prstGeom prst="rect">
            <a:avLst/>
          </a:prstGeom>
          <a:noFill/>
        </p:spPr>
        <p:txBody>
          <a:bodyPr wrap="square">
            <a:spAutoFit/>
          </a:bodyPr>
          <a:lstStyle/>
          <a:p>
            <a:pPr algn="l"/>
            <a:r>
              <a:rPr sz="3400" b="1">
                <a:solidFill>
                  <a:srgbClr val="FFFFFF"/>
                </a:solidFill>
                <a:latin typeface="Segoe UI"/>
              </a:rPr>
              <a:t>The problem is real, and it is measured</a:t>
            </a:r>
          </a:p>
        </p:txBody>
      </p:sp>
      <p:sp>
        <p:nvSpPr>
          <p:cNvPr id="5" name="TextBox 4"/>
          <p:cNvSpPr txBox="1"/>
          <p:nvPr/>
        </p:nvSpPr>
        <p:spPr>
          <a:xfrm>
            <a:off x="548640" y="6400800"/>
            <a:ext cx="11064240" cy="274320"/>
          </a:xfrm>
          <a:prstGeom prst="rect">
            <a:avLst/>
          </a:prstGeom>
          <a:noFill/>
        </p:spPr>
        <p:txBody>
          <a:bodyPr wrap="square">
            <a:spAutoFit/>
          </a:bodyPr>
          <a:lstStyle/>
          <a:p>
            <a:pPr algn="l"/>
            <a:r>
              <a:rPr sz="1000" b="0">
                <a:solidFill>
                  <a:srgbClr val="94A3B8"/>
                </a:solidFill>
                <a:latin typeface="Segoe UI"/>
              </a:rPr>
              <a:t>ContextBridge  ·  Team Naruto  ·  AI Builder Cup 2026  ·  contextbridge-web-c5ltxo3mkq-uc.a.run.app</a:t>
            </a:r>
          </a:p>
        </p:txBody>
      </p:sp>
      <p:sp>
        <p:nvSpPr>
          <p:cNvPr id="6" name="Rounded Rectangle 5"/>
          <p:cNvSpPr/>
          <p:nvPr/>
        </p:nvSpPr>
        <p:spPr>
          <a:xfrm>
            <a:off x="548640" y="1737360"/>
            <a:ext cx="3566160" cy="214884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3108960" cy="731520"/>
          </a:xfrm>
          <a:prstGeom prst="rect">
            <a:avLst/>
          </a:prstGeom>
          <a:noFill/>
        </p:spPr>
        <p:txBody>
          <a:bodyPr wrap="square">
            <a:spAutoFit/>
          </a:bodyPr>
          <a:lstStyle/>
          <a:p>
            <a:pPr algn="l"/>
            <a:r>
              <a:rPr sz="3400" b="1">
                <a:solidFill>
                  <a:srgbClr val="34D399"/>
                </a:solidFill>
                <a:latin typeface="Segoe UI"/>
              </a:rPr>
              <a:t>51%</a:t>
            </a:r>
          </a:p>
        </p:txBody>
      </p:sp>
      <p:sp>
        <p:nvSpPr>
          <p:cNvPr id="8" name="TextBox 7"/>
          <p:cNvSpPr txBox="1"/>
          <p:nvPr/>
        </p:nvSpPr>
        <p:spPr>
          <a:xfrm>
            <a:off x="777240" y="2606039"/>
            <a:ext cx="3108960" cy="914400"/>
          </a:xfrm>
          <a:prstGeom prst="rect">
            <a:avLst/>
          </a:prstGeom>
          <a:noFill/>
        </p:spPr>
        <p:txBody>
          <a:bodyPr wrap="square">
            <a:spAutoFit/>
          </a:bodyPr>
          <a:lstStyle/>
          <a:p>
            <a:pPr algn="l"/>
            <a:r>
              <a:rPr sz="1300" b="0">
                <a:solidFill>
                  <a:srgbClr val="FFFFFF"/>
                </a:solidFill>
                <a:latin typeface="Segoe UI"/>
              </a:rPr>
              <a:t>of YouTube users say it is 'very important' for learning how to do things they haven't done before.</a:t>
            </a:r>
          </a:p>
        </p:txBody>
      </p:sp>
      <p:sp>
        <p:nvSpPr>
          <p:cNvPr id="9" name="TextBox 8"/>
          <p:cNvSpPr txBox="1"/>
          <p:nvPr/>
        </p:nvSpPr>
        <p:spPr>
          <a:xfrm>
            <a:off x="777240" y="3474720"/>
            <a:ext cx="3108960" cy="365760"/>
          </a:xfrm>
          <a:prstGeom prst="rect">
            <a:avLst/>
          </a:prstGeom>
          <a:noFill/>
        </p:spPr>
        <p:txBody>
          <a:bodyPr wrap="square">
            <a:spAutoFit/>
          </a:bodyPr>
          <a:lstStyle/>
          <a:p>
            <a:pPr algn="l"/>
            <a:r>
              <a:rPr sz="1000" b="0">
                <a:solidFill>
                  <a:srgbClr val="94A3B8"/>
                </a:solidFill>
                <a:latin typeface="Segoe UI"/>
              </a:rPr>
              <a:t>Pew Research Center, 2018</a:t>
            </a:r>
          </a:p>
        </p:txBody>
      </p:sp>
      <p:sp>
        <p:nvSpPr>
          <p:cNvPr id="10" name="Rounded Rectangle 9"/>
          <p:cNvSpPr/>
          <p:nvPr/>
        </p:nvSpPr>
        <p:spPr>
          <a:xfrm>
            <a:off x="4315968" y="1737360"/>
            <a:ext cx="3566160" cy="2148840"/>
          </a:xfrm>
          <a:prstGeom prst="roundRect">
            <a:avLst>
              <a:gd name="adj" fmla="val 8000"/>
            </a:avLst>
          </a:prstGeom>
          <a:solidFill>
            <a:srgbClr val="151B2B"/>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874519"/>
            <a:ext cx="3108960" cy="731520"/>
          </a:xfrm>
          <a:prstGeom prst="rect">
            <a:avLst/>
          </a:prstGeom>
          <a:noFill/>
        </p:spPr>
        <p:txBody>
          <a:bodyPr wrap="square">
            <a:spAutoFit/>
          </a:bodyPr>
          <a:lstStyle/>
          <a:p>
            <a:pPr algn="l"/>
            <a:r>
              <a:rPr sz="3400" b="1">
                <a:solidFill>
                  <a:srgbClr val="F87171"/>
                </a:solidFill>
                <a:latin typeface="Segoe UI"/>
              </a:rPr>
              <a:t>3.13%</a:t>
            </a:r>
          </a:p>
        </p:txBody>
      </p:sp>
      <p:sp>
        <p:nvSpPr>
          <p:cNvPr id="12" name="TextBox 11"/>
          <p:cNvSpPr txBox="1"/>
          <p:nvPr/>
        </p:nvSpPr>
        <p:spPr>
          <a:xfrm>
            <a:off x="4544568" y="2606039"/>
            <a:ext cx="3108960" cy="914400"/>
          </a:xfrm>
          <a:prstGeom prst="rect">
            <a:avLst/>
          </a:prstGeom>
          <a:noFill/>
        </p:spPr>
        <p:txBody>
          <a:bodyPr wrap="square">
            <a:spAutoFit/>
          </a:bodyPr>
          <a:lstStyle/>
          <a:p>
            <a:pPr algn="l"/>
            <a:r>
              <a:rPr sz="1300" b="0">
                <a:solidFill>
                  <a:srgbClr val="FFFFFF"/>
                </a:solidFill>
                <a:latin typeface="Segoe UI"/>
              </a:rPr>
              <a:t>completion rate for MITx / HarvardX online courses (2017-18).</a:t>
            </a:r>
          </a:p>
        </p:txBody>
      </p:sp>
      <p:sp>
        <p:nvSpPr>
          <p:cNvPr id="13" name="TextBox 12"/>
          <p:cNvSpPr txBox="1"/>
          <p:nvPr/>
        </p:nvSpPr>
        <p:spPr>
          <a:xfrm>
            <a:off x="4544568" y="3474720"/>
            <a:ext cx="3108960" cy="365760"/>
          </a:xfrm>
          <a:prstGeom prst="rect">
            <a:avLst/>
          </a:prstGeom>
          <a:noFill/>
        </p:spPr>
        <p:txBody>
          <a:bodyPr wrap="square">
            <a:spAutoFit/>
          </a:bodyPr>
          <a:lstStyle/>
          <a:p>
            <a:pPr algn="l"/>
            <a:r>
              <a:rPr sz="1000" b="0">
                <a:solidFill>
                  <a:srgbClr val="94A3B8"/>
                </a:solidFill>
                <a:latin typeface="Segoe UI"/>
              </a:rPr>
              <a:t>Reich &amp; Ruipérez-Valiente, Science, 2019</a:t>
            </a:r>
          </a:p>
        </p:txBody>
      </p:sp>
      <p:sp>
        <p:nvSpPr>
          <p:cNvPr id="14" name="Rounded Rectangle 13"/>
          <p:cNvSpPr/>
          <p:nvPr/>
        </p:nvSpPr>
        <p:spPr>
          <a:xfrm>
            <a:off x="8083296" y="1737360"/>
            <a:ext cx="3566160" cy="2148840"/>
          </a:xfrm>
          <a:prstGeom prst="roundRect">
            <a:avLst>
              <a:gd name="adj" fmla="val 8000"/>
            </a:avLst>
          </a:prstGeom>
          <a:solidFill>
            <a:srgbClr val="151B2B"/>
          </a:solidFill>
          <a:ln>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1896" y="1874519"/>
            <a:ext cx="3108960" cy="731520"/>
          </a:xfrm>
          <a:prstGeom prst="rect">
            <a:avLst/>
          </a:prstGeom>
          <a:noFill/>
        </p:spPr>
        <p:txBody>
          <a:bodyPr wrap="square">
            <a:spAutoFit/>
          </a:bodyPr>
          <a:lstStyle/>
          <a:p>
            <a:pPr algn="l"/>
            <a:r>
              <a:rPr sz="3400" b="1">
                <a:solidFill>
                  <a:srgbClr val="FBBF24"/>
                </a:solidFill>
                <a:latin typeface="Segoe UI"/>
              </a:rPr>
              <a:t>66%</a:t>
            </a:r>
          </a:p>
        </p:txBody>
      </p:sp>
      <p:sp>
        <p:nvSpPr>
          <p:cNvPr id="16" name="TextBox 15"/>
          <p:cNvSpPr txBox="1"/>
          <p:nvPr/>
        </p:nvSpPr>
        <p:spPr>
          <a:xfrm>
            <a:off x="8311896" y="2606039"/>
            <a:ext cx="3108960" cy="914400"/>
          </a:xfrm>
          <a:prstGeom prst="rect">
            <a:avLst/>
          </a:prstGeom>
          <a:noFill/>
        </p:spPr>
        <p:txBody>
          <a:bodyPr wrap="square">
            <a:spAutoFit/>
          </a:bodyPr>
          <a:lstStyle/>
          <a:p>
            <a:pPr algn="l"/>
            <a:r>
              <a:rPr sz="1300" b="0">
                <a:solidFill>
                  <a:srgbClr val="FFFFFF"/>
                </a:solidFill>
                <a:latin typeface="Segoe UI"/>
              </a:rPr>
              <a:t>of developers are frustrated by AI answers that are 'almost right, but not quite'; 46% distrust AI accuracy.</a:t>
            </a:r>
          </a:p>
        </p:txBody>
      </p:sp>
      <p:sp>
        <p:nvSpPr>
          <p:cNvPr id="17" name="TextBox 16"/>
          <p:cNvSpPr txBox="1"/>
          <p:nvPr/>
        </p:nvSpPr>
        <p:spPr>
          <a:xfrm>
            <a:off x="8311896" y="3474720"/>
            <a:ext cx="3108960" cy="365760"/>
          </a:xfrm>
          <a:prstGeom prst="rect">
            <a:avLst/>
          </a:prstGeom>
          <a:noFill/>
        </p:spPr>
        <p:txBody>
          <a:bodyPr wrap="square">
            <a:spAutoFit/>
          </a:bodyPr>
          <a:lstStyle/>
          <a:p>
            <a:pPr algn="l"/>
            <a:r>
              <a:rPr sz="1000" b="0">
                <a:solidFill>
                  <a:srgbClr val="94A3B8"/>
                </a:solidFill>
                <a:latin typeface="Segoe UI"/>
              </a:rPr>
              <a:t>Stack Overflow Developer Survey, 2025</a:t>
            </a:r>
          </a:p>
        </p:txBody>
      </p:sp>
      <p:sp>
        <p:nvSpPr>
          <p:cNvPr id="18" name="Rounded Rectangle 17"/>
          <p:cNvSpPr/>
          <p:nvPr/>
        </p:nvSpPr>
        <p:spPr>
          <a:xfrm>
            <a:off x="2432304" y="4069080"/>
            <a:ext cx="3566160" cy="2148840"/>
          </a:xfrm>
          <a:prstGeom prst="roundRect">
            <a:avLst>
              <a:gd name="adj" fmla="val 8000"/>
            </a:avLst>
          </a:prstGeom>
          <a:solidFill>
            <a:srgbClr val="151B2B"/>
          </a:solidFill>
          <a:ln>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60904" y="4206240"/>
            <a:ext cx="3108960" cy="731520"/>
          </a:xfrm>
          <a:prstGeom prst="rect">
            <a:avLst/>
          </a:prstGeom>
          <a:noFill/>
        </p:spPr>
        <p:txBody>
          <a:bodyPr wrap="square">
            <a:spAutoFit/>
          </a:bodyPr>
          <a:lstStyle/>
          <a:p>
            <a:pPr algn="l"/>
            <a:r>
              <a:rPr sz="3400" b="1">
                <a:solidFill>
                  <a:srgbClr val="38BDF8"/>
                </a:solidFill>
                <a:latin typeface="Segoe UI"/>
              </a:rPr>
              <a:t>9 in 10</a:t>
            </a:r>
          </a:p>
        </p:txBody>
      </p:sp>
      <p:sp>
        <p:nvSpPr>
          <p:cNvPr id="20" name="TextBox 19"/>
          <p:cNvSpPr txBox="1"/>
          <p:nvPr/>
        </p:nvSpPr>
        <p:spPr>
          <a:xfrm>
            <a:off x="2660904" y="4937760"/>
            <a:ext cx="3108960" cy="914400"/>
          </a:xfrm>
          <a:prstGeom prst="rect">
            <a:avLst/>
          </a:prstGeom>
          <a:noFill/>
        </p:spPr>
        <p:txBody>
          <a:bodyPr wrap="square">
            <a:spAutoFit/>
          </a:bodyPr>
          <a:lstStyle/>
          <a:p>
            <a:pPr algn="l"/>
            <a:r>
              <a:rPr sz="1300" b="0">
                <a:solidFill>
                  <a:srgbClr val="FFFFFF"/>
                </a:solidFill>
                <a:latin typeface="Segoe UI"/>
              </a:rPr>
              <a:t>new internet users in India are likely to be Indian-language users.</a:t>
            </a:r>
          </a:p>
        </p:txBody>
      </p:sp>
      <p:sp>
        <p:nvSpPr>
          <p:cNvPr id="21" name="TextBox 20"/>
          <p:cNvSpPr txBox="1"/>
          <p:nvPr/>
        </p:nvSpPr>
        <p:spPr>
          <a:xfrm>
            <a:off x="2660904" y="5806440"/>
            <a:ext cx="3108960" cy="365760"/>
          </a:xfrm>
          <a:prstGeom prst="rect">
            <a:avLst/>
          </a:prstGeom>
          <a:noFill/>
        </p:spPr>
        <p:txBody>
          <a:bodyPr wrap="square">
            <a:spAutoFit/>
          </a:bodyPr>
          <a:lstStyle/>
          <a:p>
            <a:pPr algn="l"/>
            <a:r>
              <a:rPr sz="1000" b="0">
                <a:solidFill>
                  <a:srgbClr val="94A3B8"/>
                </a:solidFill>
                <a:latin typeface="Segoe UI"/>
              </a:rPr>
              <a:t>KPMG &amp; Google, 'Indian Languages', 2017</a:t>
            </a:r>
          </a:p>
        </p:txBody>
      </p:sp>
      <p:sp>
        <p:nvSpPr>
          <p:cNvPr id="22" name="Rounded Rectangle 21"/>
          <p:cNvSpPr/>
          <p:nvPr/>
        </p:nvSpPr>
        <p:spPr>
          <a:xfrm>
            <a:off x="6199631" y="4069080"/>
            <a:ext cx="3566160" cy="214884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1" y="4206240"/>
            <a:ext cx="3108960" cy="731520"/>
          </a:xfrm>
          <a:prstGeom prst="rect">
            <a:avLst/>
          </a:prstGeom>
          <a:noFill/>
        </p:spPr>
        <p:txBody>
          <a:bodyPr wrap="square">
            <a:spAutoFit/>
          </a:bodyPr>
          <a:lstStyle/>
          <a:p>
            <a:pPr algn="l"/>
            <a:r>
              <a:rPr sz="3400" b="1">
                <a:solidFill>
                  <a:srgbClr val="818CF8"/>
                </a:solidFill>
                <a:latin typeface="Segoe UI"/>
              </a:rPr>
              <a:t>1.8 h/day</a:t>
            </a:r>
          </a:p>
        </p:txBody>
      </p:sp>
      <p:sp>
        <p:nvSpPr>
          <p:cNvPr id="24" name="TextBox 23"/>
          <p:cNvSpPr txBox="1"/>
          <p:nvPr/>
        </p:nvSpPr>
        <p:spPr>
          <a:xfrm>
            <a:off x="6428231" y="4937760"/>
            <a:ext cx="3108960" cy="914400"/>
          </a:xfrm>
          <a:prstGeom prst="rect">
            <a:avLst/>
          </a:prstGeom>
          <a:noFill/>
        </p:spPr>
        <p:txBody>
          <a:bodyPr wrap="square">
            <a:spAutoFit/>
          </a:bodyPr>
          <a:lstStyle/>
          <a:p>
            <a:pPr algn="l"/>
            <a:r>
              <a:rPr sz="1300" b="0">
                <a:solidFill>
                  <a:srgbClr val="FFFFFF"/>
                </a:solidFill>
                <a:latin typeface="Segoe UI"/>
              </a:rPr>
              <a:t>the average knowledge worker spends searching for and gathering information.</a:t>
            </a:r>
          </a:p>
        </p:txBody>
      </p:sp>
      <p:sp>
        <p:nvSpPr>
          <p:cNvPr id="25" name="TextBox 24"/>
          <p:cNvSpPr txBox="1"/>
          <p:nvPr/>
        </p:nvSpPr>
        <p:spPr>
          <a:xfrm>
            <a:off x="6428231" y="5806440"/>
            <a:ext cx="3108960" cy="365760"/>
          </a:xfrm>
          <a:prstGeom prst="rect">
            <a:avLst/>
          </a:prstGeom>
          <a:noFill/>
        </p:spPr>
        <p:txBody>
          <a:bodyPr wrap="square">
            <a:spAutoFit/>
          </a:bodyPr>
          <a:lstStyle/>
          <a:p>
            <a:pPr algn="l"/>
            <a:r>
              <a:rPr sz="1000" b="0">
                <a:solidFill>
                  <a:srgbClr val="94A3B8"/>
                </a:solidFill>
                <a:latin typeface="Segoe UI"/>
              </a:rPr>
              <a:t>McKinsey Global Institute, 2012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lgn="l"/>
            <a:r>
              <a:rPr sz="1200" b="1">
                <a:solidFill>
                  <a:srgbClr val="818CF8"/>
                </a:solidFill>
                <a:latin typeface="Segoe UI"/>
              </a:rPr>
              <a:t>COST OF THE PROBLEM</a:t>
            </a:r>
          </a:p>
        </p:txBody>
      </p:sp>
      <p:sp>
        <p:nvSpPr>
          <p:cNvPr id="3" name="TextBox 2"/>
          <p:cNvSpPr txBox="1"/>
          <p:nvPr/>
        </p:nvSpPr>
        <p:spPr>
          <a:xfrm>
            <a:off x="10241280" y="320040"/>
            <a:ext cx="1371600" cy="365760"/>
          </a:xfrm>
          <a:prstGeom prst="rect">
            <a:avLst/>
          </a:prstGeom>
          <a:noFill/>
        </p:spPr>
        <p:txBody>
          <a:bodyPr wrap="square">
            <a:spAutoFit/>
          </a:bodyPr>
          <a:lstStyle/>
          <a:p>
            <a:pPr algn="r"/>
            <a:r>
              <a:rPr sz="1200" b="0">
                <a:solidFill>
                  <a:srgbClr val="94A3B8"/>
                </a:solidFill>
                <a:latin typeface="Segoe UI"/>
              </a:rPr>
              <a:t>02 / 06</a:t>
            </a:r>
          </a:p>
        </p:txBody>
      </p:sp>
      <p:sp>
        <p:nvSpPr>
          <p:cNvPr id="4" name="TextBox 3"/>
          <p:cNvSpPr txBox="1"/>
          <p:nvPr/>
        </p:nvSpPr>
        <p:spPr>
          <a:xfrm>
            <a:off x="548640" y="685800"/>
            <a:ext cx="11064240" cy="914400"/>
          </a:xfrm>
          <a:prstGeom prst="rect">
            <a:avLst/>
          </a:prstGeom>
          <a:noFill/>
        </p:spPr>
        <p:txBody>
          <a:bodyPr wrap="square">
            <a:spAutoFit/>
          </a:bodyPr>
          <a:lstStyle/>
          <a:p>
            <a:pPr algn="l"/>
            <a:r>
              <a:rPr sz="3400" b="1">
                <a:solidFill>
                  <a:srgbClr val="FFFFFF"/>
                </a:solidFill>
                <a:latin typeface="Segoe UI"/>
              </a:rPr>
              <a:t>Lost minutes add up to lost money</a:t>
            </a:r>
          </a:p>
        </p:txBody>
      </p:sp>
      <p:sp>
        <p:nvSpPr>
          <p:cNvPr id="5" name="TextBox 4"/>
          <p:cNvSpPr txBox="1"/>
          <p:nvPr/>
        </p:nvSpPr>
        <p:spPr>
          <a:xfrm>
            <a:off x="548640" y="6400800"/>
            <a:ext cx="11064240" cy="274320"/>
          </a:xfrm>
          <a:prstGeom prst="rect">
            <a:avLst/>
          </a:prstGeom>
          <a:noFill/>
        </p:spPr>
        <p:txBody>
          <a:bodyPr wrap="square">
            <a:spAutoFit/>
          </a:bodyPr>
          <a:lstStyle/>
          <a:p>
            <a:pPr algn="l"/>
            <a:r>
              <a:rPr sz="1000" b="0">
                <a:solidFill>
                  <a:srgbClr val="94A3B8"/>
                </a:solidFill>
                <a:latin typeface="Segoe UI"/>
              </a:rPr>
              <a:t>ContextBridge  ·  Team Naruto  ·  AI Builder Cup 2026  ·  contextbridge-web-c5ltxo3mkq-uc.a.run.app</a:t>
            </a:r>
          </a:p>
        </p:txBody>
      </p:sp>
      <p:sp>
        <p:nvSpPr>
          <p:cNvPr id="6" name="Rounded Rectangle 5"/>
          <p:cNvSpPr/>
          <p:nvPr/>
        </p:nvSpPr>
        <p:spPr>
          <a:xfrm>
            <a:off x="548640" y="1828800"/>
            <a:ext cx="1965960" cy="14630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65960"/>
            <a:ext cx="1965960" cy="731520"/>
          </a:xfrm>
          <a:prstGeom prst="rect">
            <a:avLst/>
          </a:prstGeom>
          <a:noFill/>
        </p:spPr>
        <p:txBody>
          <a:bodyPr wrap="square">
            <a:spAutoFit/>
          </a:bodyPr>
          <a:lstStyle/>
          <a:p>
            <a:pPr algn="ctr"/>
            <a:r>
              <a:rPr sz="3200" b="1">
                <a:solidFill>
                  <a:srgbClr val="FFFFFF"/>
                </a:solidFill>
                <a:latin typeface="Segoe UI"/>
              </a:rPr>
              <a:t>50</a:t>
            </a:r>
          </a:p>
        </p:txBody>
      </p:sp>
      <p:sp>
        <p:nvSpPr>
          <p:cNvPr id="8" name="TextBox 7"/>
          <p:cNvSpPr txBox="1"/>
          <p:nvPr/>
        </p:nvSpPr>
        <p:spPr>
          <a:xfrm>
            <a:off x="548640" y="2697480"/>
            <a:ext cx="1965960" cy="457200"/>
          </a:xfrm>
          <a:prstGeom prst="rect">
            <a:avLst/>
          </a:prstGeom>
          <a:noFill/>
        </p:spPr>
        <p:txBody>
          <a:bodyPr wrap="square">
            <a:spAutoFit/>
          </a:bodyPr>
          <a:lstStyle/>
          <a:p>
            <a:pPr algn="ctr"/>
            <a:r>
              <a:rPr sz="1300" b="0">
                <a:solidFill>
                  <a:srgbClr val="94A3B8"/>
                </a:solidFill>
                <a:latin typeface="Segoe UI"/>
              </a:rPr>
              <a:t>engineers</a:t>
            </a:r>
          </a:p>
        </p:txBody>
      </p:sp>
      <p:sp>
        <p:nvSpPr>
          <p:cNvPr id="9" name="Rounded Rectangle 8"/>
          <p:cNvSpPr/>
          <p:nvPr/>
        </p:nvSpPr>
        <p:spPr>
          <a:xfrm>
            <a:off x="2697480" y="1828800"/>
            <a:ext cx="1965960" cy="14630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965960"/>
            <a:ext cx="1965960" cy="731520"/>
          </a:xfrm>
          <a:prstGeom prst="rect">
            <a:avLst/>
          </a:prstGeom>
          <a:noFill/>
        </p:spPr>
        <p:txBody>
          <a:bodyPr wrap="square">
            <a:spAutoFit/>
          </a:bodyPr>
          <a:lstStyle/>
          <a:p>
            <a:pPr algn="ctr"/>
            <a:r>
              <a:rPr sz="3200" b="1">
                <a:solidFill>
                  <a:srgbClr val="FFFFFF"/>
                </a:solidFill>
                <a:latin typeface="Segoe UI"/>
              </a:rPr>
              <a:t>× 10</a:t>
            </a:r>
          </a:p>
        </p:txBody>
      </p:sp>
      <p:sp>
        <p:nvSpPr>
          <p:cNvPr id="11" name="TextBox 10"/>
          <p:cNvSpPr txBox="1"/>
          <p:nvPr/>
        </p:nvSpPr>
        <p:spPr>
          <a:xfrm>
            <a:off x="2697480" y="2697480"/>
            <a:ext cx="1965960" cy="457200"/>
          </a:xfrm>
          <a:prstGeom prst="rect">
            <a:avLst/>
          </a:prstGeom>
          <a:noFill/>
        </p:spPr>
        <p:txBody>
          <a:bodyPr wrap="square">
            <a:spAutoFit/>
          </a:bodyPr>
          <a:lstStyle/>
          <a:p>
            <a:pPr algn="ctr"/>
            <a:r>
              <a:rPr sz="1300" b="0">
                <a:solidFill>
                  <a:srgbClr val="94A3B8"/>
                </a:solidFill>
                <a:latin typeface="Segoe UI"/>
              </a:rPr>
              <a:t>lookups / day</a:t>
            </a:r>
          </a:p>
        </p:txBody>
      </p:sp>
      <p:sp>
        <p:nvSpPr>
          <p:cNvPr id="12" name="Rounded Rectangle 11"/>
          <p:cNvSpPr/>
          <p:nvPr/>
        </p:nvSpPr>
        <p:spPr>
          <a:xfrm>
            <a:off x="4846320" y="1828800"/>
            <a:ext cx="1965960" cy="14630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965960"/>
            <a:ext cx="1965960" cy="731520"/>
          </a:xfrm>
          <a:prstGeom prst="rect">
            <a:avLst/>
          </a:prstGeom>
          <a:noFill/>
        </p:spPr>
        <p:txBody>
          <a:bodyPr wrap="square">
            <a:spAutoFit/>
          </a:bodyPr>
          <a:lstStyle/>
          <a:p>
            <a:pPr algn="ctr"/>
            <a:r>
              <a:rPr sz="3200" b="1">
                <a:solidFill>
                  <a:srgbClr val="FFFFFF"/>
                </a:solidFill>
                <a:latin typeface="Segoe UI"/>
              </a:rPr>
              <a:t>× 3 min</a:t>
            </a:r>
          </a:p>
        </p:txBody>
      </p:sp>
      <p:sp>
        <p:nvSpPr>
          <p:cNvPr id="14" name="TextBox 13"/>
          <p:cNvSpPr txBox="1"/>
          <p:nvPr/>
        </p:nvSpPr>
        <p:spPr>
          <a:xfrm>
            <a:off x="4846320" y="2697480"/>
            <a:ext cx="1965960" cy="457200"/>
          </a:xfrm>
          <a:prstGeom prst="rect">
            <a:avLst/>
          </a:prstGeom>
          <a:noFill/>
        </p:spPr>
        <p:txBody>
          <a:bodyPr wrap="square">
            <a:spAutoFit/>
          </a:bodyPr>
          <a:lstStyle/>
          <a:p>
            <a:pPr algn="ctr"/>
            <a:r>
              <a:rPr sz="1300" b="0">
                <a:solidFill>
                  <a:srgbClr val="94A3B8"/>
                </a:solidFill>
                <a:latin typeface="Segoe UI"/>
              </a:rPr>
              <a:t>scrub &amp; re-watch</a:t>
            </a:r>
          </a:p>
        </p:txBody>
      </p:sp>
      <p:sp>
        <p:nvSpPr>
          <p:cNvPr id="15" name="Rounded Rectangle 14"/>
          <p:cNvSpPr/>
          <p:nvPr/>
        </p:nvSpPr>
        <p:spPr>
          <a:xfrm>
            <a:off x="6995160" y="1828800"/>
            <a:ext cx="1965960" cy="14630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1965960"/>
            <a:ext cx="1965960" cy="731520"/>
          </a:xfrm>
          <a:prstGeom prst="rect">
            <a:avLst/>
          </a:prstGeom>
          <a:noFill/>
        </p:spPr>
        <p:txBody>
          <a:bodyPr wrap="square">
            <a:spAutoFit/>
          </a:bodyPr>
          <a:lstStyle/>
          <a:p>
            <a:pPr algn="ctr"/>
            <a:r>
              <a:rPr sz="3200" b="1">
                <a:solidFill>
                  <a:srgbClr val="FFFFFF"/>
                </a:solidFill>
                <a:latin typeface="Segoe UI"/>
              </a:rPr>
              <a:t>× 240</a:t>
            </a:r>
          </a:p>
        </p:txBody>
      </p:sp>
      <p:sp>
        <p:nvSpPr>
          <p:cNvPr id="17" name="TextBox 16"/>
          <p:cNvSpPr txBox="1"/>
          <p:nvPr/>
        </p:nvSpPr>
        <p:spPr>
          <a:xfrm>
            <a:off x="6995160" y="2697480"/>
            <a:ext cx="1965960" cy="457200"/>
          </a:xfrm>
          <a:prstGeom prst="rect">
            <a:avLst/>
          </a:prstGeom>
          <a:noFill/>
        </p:spPr>
        <p:txBody>
          <a:bodyPr wrap="square">
            <a:spAutoFit/>
          </a:bodyPr>
          <a:lstStyle/>
          <a:p>
            <a:pPr algn="ctr"/>
            <a:r>
              <a:rPr sz="1300" b="0">
                <a:solidFill>
                  <a:srgbClr val="94A3B8"/>
                </a:solidFill>
                <a:latin typeface="Segoe UI"/>
              </a:rPr>
              <a:t>work days</a:t>
            </a:r>
          </a:p>
        </p:txBody>
      </p:sp>
      <p:sp>
        <p:nvSpPr>
          <p:cNvPr id="18" name="Rounded Rectangle 17"/>
          <p:cNvSpPr/>
          <p:nvPr/>
        </p:nvSpPr>
        <p:spPr>
          <a:xfrm>
            <a:off x="9189720" y="1828800"/>
            <a:ext cx="2468880" cy="1463040"/>
          </a:xfrm>
          <a:prstGeom prst="roundRect">
            <a:avLst>
              <a:gd name="adj" fmla="val 8000"/>
            </a:avLst>
          </a:prstGeom>
          <a:solidFill>
            <a:srgbClr val="2A1216"/>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9720" y="1874519"/>
            <a:ext cx="2468880" cy="640080"/>
          </a:xfrm>
          <a:prstGeom prst="rect">
            <a:avLst/>
          </a:prstGeom>
          <a:noFill/>
        </p:spPr>
        <p:txBody>
          <a:bodyPr wrap="square">
            <a:spAutoFit/>
          </a:bodyPr>
          <a:lstStyle/>
          <a:p>
            <a:pPr algn="ctr"/>
            <a:r>
              <a:rPr sz="3200" b="1">
                <a:solidFill>
                  <a:srgbClr val="F87171"/>
                </a:solidFill>
                <a:latin typeface="Segoe UI"/>
              </a:rPr>
              <a:t>6,000 h</a:t>
            </a:r>
          </a:p>
        </p:txBody>
      </p:sp>
      <p:sp>
        <p:nvSpPr>
          <p:cNvPr id="20" name="TextBox 19"/>
          <p:cNvSpPr txBox="1"/>
          <p:nvPr/>
        </p:nvSpPr>
        <p:spPr>
          <a:xfrm>
            <a:off x="9189720" y="2514600"/>
            <a:ext cx="2468880" cy="731520"/>
          </a:xfrm>
          <a:prstGeom prst="rect">
            <a:avLst/>
          </a:prstGeom>
          <a:noFill/>
        </p:spPr>
        <p:txBody>
          <a:bodyPr wrap="square">
            <a:spAutoFit/>
          </a:bodyPr>
          <a:lstStyle/>
          <a:p>
            <a:pPr algn="ctr"/>
            <a:r>
              <a:rPr sz="1400" b="0">
                <a:solidFill>
                  <a:srgbClr val="FFFFFF"/>
                </a:solidFill>
                <a:latin typeface="Segoe UI"/>
              </a:rPr>
              <a:t>≈ $300,000 / year</a:t>
            </a:r>
          </a:p>
          <a:p>
            <a:pPr algn="ctr"/>
            <a:r>
              <a:rPr sz="1400" b="0">
                <a:solidFill>
                  <a:srgbClr val="FFFFFF"/>
                </a:solidFill>
                <a:latin typeface="Segoe UI"/>
              </a:rPr>
              <a:t>at $50 / hour</a:t>
            </a:r>
          </a:p>
        </p:txBody>
      </p:sp>
      <p:sp>
        <p:nvSpPr>
          <p:cNvPr id="21" name="TextBox 20"/>
          <p:cNvSpPr txBox="1"/>
          <p:nvPr/>
        </p:nvSpPr>
        <p:spPr>
          <a:xfrm>
            <a:off x="548640" y="3429000"/>
            <a:ext cx="10972800" cy="365760"/>
          </a:xfrm>
          <a:prstGeom prst="rect">
            <a:avLst/>
          </a:prstGeom>
          <a:noFill/>
        </p:spPr>
        <p:txBody>
          <a:bodyPr wrap="square">
            <a:spAutoFit/>
          </a:bodyPr>
          <a:lstStyle/>
          <a:p>
            <a:pPr algn="l"/>
            <a:r>
              <a:rPr sz="1100" b="0">
                <a:solidFill>
                  <a:srgbClr val="94A3B8"/>
                </a:solidFill>
                <a:latin typeface="Segoe UI"/>
              </a:rPr>
              <a:t>Illustrative model - our assumptions, for one 50-person team.</a:t>
            </a:r>
          </a:p>
        </p:txBody>
      </p:sp>
      <p:sp>
        <p:nvSpPr>
          <p:cNvPr id="22" name="Rounded Rectangle 21"/>
          <p:cNvSpPr/>
          <p:nvPr/>
        </p:nvSpPr>
        <p:spPr>
          <a:xfrm>
            <a:off x="548640" y="4023360"/>
            <a:ext cx="3566160" cy="2103120"/>
          </a:xfrm>
          <a:prstGeom prst="roundRect">
            <a:avLst>
              <a:gd name="adj" fmla="val 8000"/>
            </a:avLst>
          </a:prstGeom>
          <a:solidFill>
            <a:srgbClr val="151B2B"/>
          </a:solidFill>
          <a:ln>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206240"/>
            <a:ext cx="3108960" cy="548640"/>
          </a:xfrm>
          <a:prstGeom prst="rect">
            <a:avLst/>
          </a:prstGeom>
          <a:noFill/>
        </p:spPr>
        <p:txBody>
          <a:bodyPr wrap="square">
            <a:spAutoFit/>
          </a:bodyPr>
          <a:lstStyle/>
          <a:p>
            <a:pPr algn="l"/>
            <a:r>
              <a:rPr sz="2000" b="1">
                <a:solidFill>
                  <a:srgbClr val="FBBF24"/>
                </a:solidFill>
                <a:latin typeface="Segoe UI"/>
              </a:rPr>
              <a:t>Time</a:t>
            </a:r>
          </a:p>
        </p:txBody>
      </p:sp>
      <p:sp>
        <p:nvSpPr>
          <p:cNvPr id="24" name="TextBox 23"/>
          <p:cNvSpPr txBox="1"/>
          <p:nvPr/>
        </p:nvSpPr>
        <p:spPr>
          <a:xfrm>
            <a:off x="777240" y="4800600"/>
            <a:ext cx="3108960" cy="1188719"/>
          </a:xfrm>
          <a:prstGeom prst="rect">
            <a:avLst/>
          </a:prstGeom>
          <a:noFill/>
        </p:spPr>
        <p:txBody>
          <a:bodyPr wrap="square">
            <a:spAutoFit/>
          </a:bodyPr>
          <a:lstStyle/>
          <a:p>
            <a:pPr algn="l"/>
            <a:r>
              <a:rPr sz="1400" b="0">
                <a:solidFill>
                  <a:srgbClr val="94A3B8"/>
                </a:solidFill>
                <a:latin typeface="Segoe UI"/>
              </a:rPr>
              <a:t>Minutes per lookup, every day, for every learner. Most give up before the end (3% finish).</a:t>
            </a:r>
          </a:p>
        </p:txBody>
      </p:sp>
      <p:sp>
        <p:nvSpPr>
          <p:cNvPr id="25" name="Rounded Rectangle 24"/>
          <p:cNvSpPr/>
          <p:nvPr/>
        </p:nvSpPr>
        <p:spPr>
          <a:xfrm>
            <a:off x="4315968" y="4023360"/>
            <a:ext cx="3566160" cy="2103120"/>
          </a:xfrm>
          <a:prstGeom prst="roundRect">
            <a:avLst>
              <a:gd name="adj" fmla="val 8000"/>
            </a:avLst>
          </a:prstGeom>
          <a:solidFill>
            <a:srgbClr val="151B2B"/>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4568" y="4206240"/>
            <a:ext cx="3108960" cy="548640"/>
          </a:xfrm>
          <a:prstGeom prst="rect">
            <a:avLst/>
          </a:prstGeom>
          <a:noFill/>
        </p:spPr>
        <p:txBody>
          <a:bodyPr wrap="square">
            <a:spAutoFit/>
          </a:bodyPr>
          <a:lstStyle/>
          <a:p>
            <a:pPr algn="l"/>
            <a:r>
              <a:rPr sz="2000" b="1">
                <a:solidFill>
                  <a:srgbClr val="F87171"/>
                </a:solidFill>
                <a:latin typeface="Segoe UI"/>
              </a:rPr>
              <a:t>Wrong answers</a:t>
            </a:r>
          </a:p>
        </p:txBody>
      </p:sp>
      <p:sp>
        <p:nvSpPr>
          <p:cNvPr id="27" name="TextBox 26"/>
          <p:cNvSpPr txBox="1"/>
          <p:nvPr/>
        </p:nvSpPr>
        <p:spPr>
          <a:xfrm>
            <a:off x="4544568" y="4800600"/>
            <a:ext cx="3108960" cy="1188719"/>
          </a:xfrm>
          <a:prstGeom prst="rect">
            <a:avLst/>
          </a:prstGeom>
          <a:noFill/>
        </p:spPr>
        <p:txBody>
          <a:bodyPr wrap="square">
            <a:spAutoFit/>
          </a:bodyPr>
          <a:lstStyle/>
          <a:p>
            <a:pPr algn="l"/>
            <a:r>
              <a:rPr sz="1400" b="0">
                <a:solidFill>
                  <a:srgbClr val="94A3B8"/>
                </a:solidFill>
                <a:latin typeface="Segoe UI"/>
              </a:rPr>
              <a:t>A confident but invented AI quote means rework, bugs and wrong decisions.</a:t>
            </a:r>
          </a:p>
        </p:txBody>
      </p:sp>
      <p:sp>
        <p:nvSpPr>
          <p:cNvPr id="28" name="Rounded Rectangle 27"/>
          <p:cNvSpPr/>
          <p:nvPr/>
        </p:nvSpPr>
        <p:spPr>
          <a:xfrm>
            <a:off x="8083296" y="4023360"/>
            <a:ext cx="3566160" cy="2103120"/>
          </a:xfrm>
          <a:prstGeom prst="roundRect">
            <a:avLst>
              <a:gd name="adj" fmla="val 8000"/>
            </a:avLst>
          </a:prstGeom>
          <a:solidFill>
            <a:srgbClr val="151B2B"/>
          </a:solidFill>
          <a:ln>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11896" y="4206240"/>
            <a:ext cx="3108960" cy="548640"/>
          </a:xfrm>
          <a:prstGeom prst="rect">
            <a:avLst/>
          </a:prstGeom>
          <a:noFill/>
        </p:spPr>
        <p:txBody>
          <a:bodyPr wrap="square">
            <a:spAutoFit/>
          </a:bodyPr>
          <a:lstStyle/>
          <a:p>
            <a:pPr algn="l"/>
            <a:r>
              <a:rPr sz="2000" b="1">
                <a:solidFill>
                  <a:srgbClr val="38BDF8"/>
                </a:solidFill>
                <a:latin typeface="Segoe UI"/>
              </a:rPr>
              <a:t>Lost learners</a:t>
            </a:r>
          </a:p>
        </p:txBody>
      </p:sp>
      <p:sp>
        <p:nvSpPr>
          <p:cNvPr id="30" name="TextBox 29"/>
          <p:cNvSpPr txBox="1"/>
          <p:nvPr/>
        </p:nvSpPr>
        <p:spPr>
          <a:xfrm>
            <a:off x="8311896" y="4800600"/>
            <a:ext cx="3108960" cy="1188719"/>
          </a:xfrm>
          <a:prstGeom prst="rect">
            <a:avLst/>
          </a:prstGeom>
          <a:noFill/>
        </p:spPr>
        <p:txBody>
          <a:bodyPr wrap="square">
            <a:spAutoFit/>
          </a:bodyPr>
          <a:lstStyle/>
          <a:p>
            <a:pPr algn="l"/>
            <a:r>
              <a:rPr sz="1400" b="0">
                <a:solidFill>
                  <a:srgbClr val="94A3B8"/>
                </a:solidFill>
                <a:latin typeface="Segoe UI"/>
              </a:rPr>
              <a:t>Millions who think in Hindi / Hinglish are left out of English-only video.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lgn="l"/>
            <a:r>
              <a:rPr sz="1200" b="1">
                <a:solidFill>
                  <a:srgbClr val="818CF8"/>
                </a:solidFill>
                <a:latin typeface="Segoe UI"/>
              </a:rPr>
              <a:t>THE SOLUTION</a:t>
            </a:r>
          </a:p>
        </p:txBody>
      </p:sp>
      <p:sp>
        <p:nvSpPr>
          <p:cNvPr id="3" name="TextBox 2"/>
          <p:cNvSpPr txBox="1"/>
          <p:nvPr/>
        </p:nvSpPr>
        <p:spPr>
          <a:xfrm>
            <a:off x="10241280" y="320040"/>
            <a:ext cx="1371600" cy="365760"/>
          </a:xfrm>
          <a:prstGeom prst="rect">
            <a:avLst/>
          </a:prstGeom>
          <a:noFill/>
        </p:spPr>
        <p:txBody>
          <a:bodyPr wrap="square">
            <a:spAutoFit/>
          </a:bodyPr>
          <a:lstStyle/>
          <a:p>
            <a:pPr algn="r"/>
            <a:r>
              <a:rPr sz="1200" b="0">
                <a:solidFill>
                  <a:srgbClr val="94A3B8"/>
                </a:solidFill>
                <a:latin typeface="Segoe UI"/>
              </a:rPr>
              <a:t>03 / 06</a:t>
            </a:r>
          </a:p>
        </p:txBody>
      </p:sp>
      <p:sp>
        <p:nvSpPr>
          <p:cNvPr id="4" name="TextBox 3"/>
          <p:cNvSpPr txBox="1"/>
          <p:nvPr/>
        </p:nvSpPr>
        <p:spPr>
          <a:xfrm>
            <a:off x="548640" y="685800"/>
            <a:ext cx="11064240" cy="914400"/>
          </a:xfrm>
          <a:prstGeom prst="rect">
            <a:avLst/>
          </a:prstGeom>
          <a:noFill/>
        </p:spPr>
        <p:txBody>
          <a:bodyPr wrap="square">
            <a:spAutoFit/>
          </a:bodyPr>
          <a:lstStyle/>
          <a:p>
            <a:pPr algn="l"/>
            <a:r>
              <a:rPr sz="3400" b="1">
                <a:solidFill>
                  <a:srgbClr val="FFFFFF"/>
                </a:solidFill>
                <a:latin typeface="Segoe UI"/>
              </a:rPr>
              <a:t>Ask your video. Get the answer, with proof.</a:t>
            </a:r>
          </a:p>
        </p:txBody>
      </p:sp>
      <p:sp>
        <p:nvSpPr>
          <p:cNvPr id="5" name="TextBox 4"/>
          <p:cNvSpPr txBox="1"/>
          <p:nvPr/>
        </p:nvSpPr>
        <p:spPr>
          <a:xfrm>
            <a:off x="548640" y="6400800"/>
            <a:ext cx="11064240" cy="274320"/>
          </a:xfrm>
          <a:prstGeom prst="rect">
            <a:avLst/>
          </a:prstGeom>
          <a:noFill/>
        </p:spPr>
        <p:txBody>
          <a:bodyPr wrap="square">
            <a:spAutoFit/>
          </a:bodyPr>
          <a:lstStyle/>
          <a:p>
            <a:pPr algn="l"/>
            <a:r>
              <a:rPr sz="1000" b="0">
                <a:solidFill>
                  <a:srgbClr val="94A3B8"/>
                </a:solidFill>
                <a:latin typeface="Segoe UI"/>
              </a:rPr>
              <a:t>ContextBridge  ·  Team Naruto  ·  AI Builder Cup 2026  ·  contextbridge-web-c5ltxo3mkq-uc.a.run.app</a:t>
            </a:r>
          </a:p>
        </p:txBody>
      </p:sp>
      <p:sp>
        <p:nvSpPr>
          <p:cNvPr id="6" name="Rounded Rectangle 5"/>
          <p:cNvSpPr/>
          <p:nvPr/>
        </p:nvSpPr>
        <p:spPr>
          <a:xfrm>
            <a:off x="548640" y="1691640"/>
            <a:ext cx="7406640" cy="448056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28800"/>
            <a:ext cx="6858000" cy="365760"/>
          </a:xfrm>
          <a:prstGeom prst="rect">
            <a:avLst/>
          </a:prstGeom>
          <a:noFill/>
        </p:spPr>
        <p:txBody>
          <a:bodyPr wrap="square">
            <a:spAutoFit/>
          </a:bodyPr>
          <a:lstStyle/>
          <a:p>
            <a:pPr algn="l"/>
            <a:r>
              <a:rPr sz="1200" b="0">
                <a:solidFill>
                  <a:srgbClr val="94A3B8"/>
                </a:solidFill>
                <a:latin typeface="Segoe UI"/>
              </a:rPr>
              <a:t>Demo lesson: Gemini lesson plan template · Google for Education</a:t>
            </a:r>
          </a:p>
        </p:txBody>
      </p:sp>
      <p:sp>
        <p:nvSpPr>
          <p:cNvPr id="8" name="Rounded Rectangle 7"/>
          <p:cNvSpPr/>
          <p:nvPr/>
        </p:nvSpPr>
        <p:spPr>
          <a:xfrm>
            <a:off x="3291840" y="2286000"/>
            <a:ext cx="4434840" cy="594360"/>
          </a:xfrm>
          <a:prstGeom prst="roundRect">
            <a:avLst>
              <a:gd name="adj" fmla="val 8000"/>
            </a:avLst>
          </a:prstGeom>
          <a:solidFill>
            <a:srgbClr val="312E81"/>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2377440"/>
            <a:ext cx="4206240" cy="457200"/>
          </a:xfrm>
          <a:prstGeom prst="rect">
            <a:avLst/>
          </a:prstGeom>
          <a:noFill/>
        </p:spPr>
        <p:txBody>
          <a:bodyPr wrap="square">
            <a:spAutoFit/>
          </a:bodyPr>
          <a:lstStyle/>
          <a:p>
            <a:pPr algn="r"/>
            <a:r>
              <a:rPr sz="1600" b="0">
                <a:solidFill>
                  <a:srgbClr val="FFFFFF"/>
                </a:solidFill>
                <a:latin typeface="Segoe UI"/>
              </a:rPr>
              <a:t>What does the Gemini draft include?</a:t>
            </a:r>
          </a:p>
        </p:txBody>
      </p:sp>
      <p:sp>
        <p:nvSpPr>
          <p:cNvPr id="10" name="Rounded Rectangle 9"/>
          <p:cNvSpPr/>
          <p:nvPr/>
        </p:nvSpPr>
        <p:spPr>
          <a:xfrm>
            <a:off x="822960" y="3063240"/>
            <a:ext cx="6903720" cy="2926080"/>
          </a:xfrm>
          <a:prstGeom prst="roundRect">
            <a:avLst>
              <a:gd name="adj" fmla="val 8000"/>
            </a:avLst>
          </a:prstGeom>
          <a:solidFill>
            <a:srgbClr val="0B0F19"/>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200400"/>
            <a:ext cx="6492240" cy="457200"/>
          </a:xfrm>
          <a:prstGeom prst="rect">
            <a:avLst/>
          </a:prstGeom>
          <a:noFill/>
        </p:spPr>
        <p:txBody>
          <a:bodyPr wrap="square">
            <a:spAutoFit/>
          </a:bodyPr>
          <a:lstStyle/>
          <a:p>
            <a:pPr algn="l"/>
            <a:r>
              <a:rPr sz="1500" b="0">
                <a:solidFill>
                  <a:srgbClr val="FFFFFF"/>
                </a:solidFill>
                <a:latin typeface="Segoe UI"/>
              </a:rPr>
              <a:t>It drafts objectives, steps to follow, and ways to adapt the lesson for beginners and advanced learners.</a:t>
            </a:r>
          </a:p>
        </p:txBody>
      </p:sp>
      <p:sp>
        <p:nvSpPr>
          <p:cNvPr id="12" name="Rounded Rectangle 11"/>
          <p:cNvSpPr/>
          <p:nvPr/>
        </p:nvSpPr>
        <p:spPr>
          <a:xfrm>
            <a:off x="1051560" y="3931920"/>
            <a:ext cx="3017520" cy="411480"/>
          </a:xfrm>
          <a:prstGeom prst="roundRect">
            <a:avLst>
              <a:gd name="adj" fmla="val 8000"/>
            </a:avLst>
          </a:prstGeom>
          <a:solidFill>
            <a:srgbClr val="0E2A22"/>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959352"/>
            <a:ext cx="3017520" cy="365760"/>
          </a:xfrm>
          <a:prstGeom prst="rect">
            <a:avLst/>
          </a:prstGeom>
          <a:noFill/>
        </p:spPr>
        <p:txBody>
          <a:bodyPr wrap="square">
            <a:spAutoFit/>
          </a:bodyPr>
          <a:lstStyle/>
          <a:p>
            <a:pPr algn="ctr"/>
            <a:r>
              <a:rPr sz="1300" b="1">
                <a:solidFill>
                  <a:srgbClr val="34D399"/>
                </a:solidFill>
                <a:latin typeface="Segoe UI"/>
              </a:rPr>
              <a:t>✓ Verified from this video · 100%</a:t>
            </a:r>
          </a:p>
        </p:txBody>
      </p:sp>
      <p:sp>
        <p:nvSpPr>
          <p:cNvPr id="14" name="Rounded Rectangle 13"/>
          <p:cNvSpPr/>
          <p:nvPr/>
        </p:nvSpPr>
        <p:spPr>
          <a:xfrm>
            <a:off x="4251960" y="3931920"/>
            <a:ext cx="1737360" cy="411480"/>
          </a:xfrm>
          <a:prstGeom prst="roundRect">
            <a:avLst>
              <a:gd name="adj" fmla="val 8000"/>
            </a:avLst>
          </a:prstGeom>
          <a:solidFill>
            <a:srgbClr val="7C3AED"/>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3959352"/>
            <a:ext cx="1737360" cy="365760"/>
          </a:xfrm>
          <a:prstGeom prst="rect">
            <a:avLst/>
          </a:prstGeom>
          <a:noFill/>
        </p:spPr>
        <p:txBody>
          <a:bodyPr wrap="square">
            <a:spAutoFit/>
          </a:bodyPr>
          <a:lstStyle/>
          <a:p>
            <a:pPr algn="ctr"/>
            <a:r>
              <a:rPr sz="1300" b="1">
                <a:solidFill>
                  <a:srgbClr val="FFFFFF"/>
                </a:solidFill>
                <a:latin typeface="Segoe UI"/>
              </a:rPr>
              <a:t>▶ Jump to 00:21</a:t>
            </a:r>
          </a:p>
        </p:txBody>
      </p:sp>
      <p:sp>
        <p:nvSpPr>
          <p:cNvPr id="16" name="TextBox 15"/>
          <p:cNvSpPr txBox="1"/>
          <p:nvPr/>
        </p:nvSpPr>
        <p:spPr>
          <a:xfrm>
            <a:off x="1051560" y="4526280"/>
            <a:ext cx="6492240" cy="914400"/>
          </a:xfrm>
          <a:prstGeom prst="rect">
            <a:avLst/>
          </a:prstGeom>
          <a:noFill/>
        </p:spPr>
        <p:txBody>
          <a:bodyPr wrap="square">
            <a:spAutoFit/>
          </a:bodyPr>
          <a:lstStyle/>
          <a:p>
            <a:pPr algn="l"/>
            <a:r>
              <a:rPr sz="1300" b="0">
                <a:solidFill>
                  <a:srgbClr val="94A3B8"/>
                </a:solidFill>
                <a:latin typeface="Segoe UI"/>
              </a:rPr>
              <a:t>“Gemini quickly generates a draft that includes objectives, steps to follow, and even ways to adapt the material for students who are new to the topic and advanced learners.”</a:t>
            </a:r>
          </a:p>
        </p:txBody>
      </p:sp>
      <p:sp>
        <p:nvSpPr>
          <p:cNvPr id="17" name="TextBox 16"/>
          <p:cNvSpPr txBox="1"/>
          <p:nvPr/>
        </p:nvSpPr>
        <p:spPr>
          <a:xfrm>
            <a:off x="1051560" y="5440680"/>
            <a:ext cx="6492240" cy="365760"/>
          </a:xfrm>
          <a:prstGeom prst="rect">
            <a:avLst/>
          </a:prstGeom>
          <a:noFill/>
        </p:spPr>
        <p:txBody>
          <a:bodyPr wrap="square">
            <a:spAutoFit/>
          </a:bodyPr>
          <a:lstStyle/>
          <a:p>
            <a:pPr algn="l"/>
            <a:r>
              <a:rPr sz="1200" b="0">
                <a:solidFill>
                  <a:srgbClr val="818CF8"/>
                </a:solidFill>
                <a:latin typeface="Segoe UI"/>
              </a:rPr>
              <a:t>Explore from here →   How does the coach share the template with educators?</a:t>
            </a:r>
          </a:p>
        </p:txBody>
      </p:sp>
      <p:sp>
        <p:nvSpPr>
          <p:cNvPr id="18" name="Rounded Rectangle 17"/>
          <p:cNvSpPr/>
          <p:nvPr/>
        </p:nvSpPr>
        <p:spPr>
          <a:xfrm>
            <a:off x="8183879" y="1691640"/>
            <a:ext cx="3474720" cy="105156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764792"/>
            <a:ext cx="3108960" cy="365760"/>
          </a:xfrm>
          <a:prstGeom prst="rect">
            <a:avLst/>
          </a:prstGeom>
          <a:noFill/>
        </p:spPr>
        <p:txBody>
          <a:bodyPr wrap="square">
            <a:spAutoFit/>
          </a:bodyPr>
          <a:lstStyle/>
          <a:p>
            <a:pPr algn="l"/>
            <a:r>
              <a:rPr sz="1600" b="1">
                <a:solidFill>
                  <a:srgbClr val="818CF8"/>
                </a:solidFill>
                <a:latin typeface="Segoe UI"/>
              </a:rPr>
              <a:t>1. Ask</a:t>
            </a:r>
          </a:p>
        </p:txBody>
      </p:sp>
      <p:sp>
        <p:nvSpPr>
          <p:cNvPr id="20" name="TextBox 19"/>
          <p:cNvSpPr txBox="1"/>
          <p:nvPr/>
        </p:nvSpPr>
        <p:spPr>
          <a:xfrm>
            <a:off x="8366760" y="2130552"/>
            <a:ext cx="3108960" cy="640080"/>
          </a:xfrm>
          <a:prstGeom prst="rect">
            <a:avLst/>
          </a:prstGeom>
          <a:noFill/>
        </p:spPr>
        <p:txBody>
          <a:bodyPr wrap="square">
            <a:spAutoFit/>
          </a:bodyPr>
          <a:lstStyle/>
          <a:p>
            <a:pPr algn="l"/>
            <a:r>
              <a:rPr sz="1200" b="0">
                <a:solidFill>
                  <a:srgbClr val="94A3B8"/>
                </a:solidFill>
                <a:latin typeface="Segoe UI"/>
              </a:rPr>
              <a:t>Type or speak a question, in English, Hindi or Hinglish.</a:t>
            </a:r>
          </a:p>
        </p:txBody>
      </p:sp>
      <p:sp>
        <p:nvSpPr>
          <p:cNvPr id="21" name="Rounded Rectangle 20"/>
          <p:cNvSpPr/>
          <p:nvPr/>
        </p:nvSpPr>
        <p:spPr>
          <a:xfrm>
            <a:off x="8183879" y="2852928"/>
            <a:ext cx="3474720" cy="105156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926080"/>
            <a:ext cx="3108960" cy="365760"/>
          </a:xfrm>
          <a:prstGeom prst="rect">
            <a:avLst/>
          </a:prstGeom>
          <a:noFill/>
        </p:spPr>
        <p:txBody>
          <a:bodyPr wrap="square">
            <a:spAutoFit/>
          </a:bodyPr>
          <a:lstStyle/>
          <a:p>
            <a:pPr algn="l"/>
            <a:r>
              <a:rPr sz="1600" b="1">
                <a:solidFill>
                  <a:srgbClr val="34D399"/>
                </a:solidFill>
                <a:latin typeface="Segoe UI"/>
              </a:rPr>
              <a:t>2. See the proof</a:t>
            </a:r>
          </a:p>
        </p:txBody>
      </p:sp>
      <p:sp>
        <p:nvSpPr>
          <p:cNvPr id="23" name="TextBox 22"/>
          <p:cNvSpPr txBox="1"/>
          <p:nvPr/>
        </p:nvSpPr>
        <p:spPr>
          <a:xfrm>
            <a:off x="8366760" y="3291840"/>
            <a:ext cx="3108960" cy="640080"/>
          </a:xfrm>
          <a:prstGeom prst="rect">
            <a:avLst/>
          </a:prstGeom>
          <a:noFill/>
        </p:spPr>
        <p:txBody>
          <a:bodyPr wrap="square">
            <a:spAutoFit/>
          </a:bodyPr>
          <a:lstStyle/>
          <a:p>
            <a:pPr algn="l"/>
            <a:r>
              <a:rPr sz="1200" b="0">
                <a:solidFill>
                  <a:srgbClr val="94A3B8"/>
                </a:solidFill>
                <a:latin typeface="Segoe UI"/>
              </a:rPr>
              <a:t>The exact words from the video, with a 'Verified from this video' badge.</a:t>
            </a:r>
          </a:p>
        </p:txBody>
      </p:sp>
      <p:sp>
        <p:nvSpPr>
          <p:cNvPr id="24" name="Rounded Rectangle 23"/>
          <p:cNvSpPr/>
          <p:nvPr/>
        </p:nvSpPr>
        <p:spPr>
          <a:xfrm>
            <a:off x="8183879" y="4014216"/>
            <a:ext cx="3474720" cy="1051560"/>
          </a:xfrm>
          <a:prstGeom prst="roundRect">
            <a:avLst>
              <a:gd name="adj" fmla="val 8000"/>
            </a:avLst>
          </a:prstGeom>
          <a:solidFill>
            <a:srgbClr val="151B2B"/>
          </a:solidFill>
          <a:ln>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4087368"/>
            <a:ext cx="3108960" cy="365760"/>
          </a:xfrm>
          <a:prstGeom prst="rect">
            <a:avLst/>
          </a:prstGeom>
          <a:noFill/>
        </p:spPr>
        <p:txBody>
          <a:bodyPr wrap="square">
            <a:spAutoFit/>
          </a:bodyPr>
          <a:lstStyle/>
          <a:p>
            <a:pPr algn="l"/>
            <a:r>
              <a:rPr sz="1600" b="1">
                <a:solidFill>
                  <a:srgbClr val="FBBF24"/>
                </a:solidFill>
                <a:latin typeface="Segoe UI"/>
              </a:rPr>
              <a:t>3. Jump there</a:t>
            </a:r>
          </a:p>
        </p:txBody>
      </p:sp>
      <p:sp>
        <p:nvSpPr>
          <p:cNvPr id="26" name="TextBox 25"/>
          <p:cNvSpPr txBox="1"/>
          <p:nvPr/>
        </p:nvSpPr>
        <p:spPr>
          <a:xfrm>
            <a:off x="8366760" y="4453128"/>
            <a:ext cx="3108960" cy="640080"/>
          </a:xfrm>
          <a:prstGeom prst="rect">
            <a:avLst/>
          </a:prstGeom>
          <a:noFill/>
        </p:spPr>
        <p:txBody>
          <a:bodyPr wrap="square">
            <a:spAutoFit/>
          </a:bodyPr>
          <a:lstStyle/>
          <a:p>
            <a:pPr algn="l"/>
            <a:r>
              <a:rPr sz="1200" b="0">
                <a:solidFill>
                  <a:srgbClr val="94A3B8"/>
                </a:solidFill>
                <a:latin typeface="Segoe UI"/>
              </a:rPr>
              <a:t>One click plays the video at that exact second.</a:t>
            </a:r>
          </a:p>
        </p:txBody>
      </p:sp>
      <p:sp>
        <p:nvSpPr>
          <p:cNvPr id="27" name="Rounded Rectangle 26"/>
          <p:cNvSpPr/>
          <p:nvPr/>
        </p:nvSpPr>
        <p:spPr>
          <a:xfrm>
            <a:off x="8183879" y="5175504"/>
            <a:ext cx="3474720" cy="1051560"/>
          </a:xfrm>
          <a:prstGeom prst="roundRect">
            <a:avLst>
              <a:gd name="adj" fmla="val 8000"/>
            </a:avLst>
          </a:prstGeom>
          <a:solidFill>
            <a:srgbClr val="151B2B"/>
          </a:solidFill>
          <a:ln>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60" y="5248656"/>
            <a:ext cx="3108960" cy="365760"/>
          </a:xfrm>
          <a:prstGeom prst="rect">
            <a:avLst/>
          </a:prstGeom>
          <a:noFill/>
        </p:spPr>
        <p:txBody>
          <a:bodyPr wrap="square">
            <a:spAutoFit/>
          </a:bodyPr>
          <a:lstStyle/>
          <a:p>
            <a:pPr algn="l"/>
            <a:r>
              <a:rPr sz="1600" b="1">
                <a:solidFill>
                  <a:srgbClr val="38BDF8"/>
                </a:solidFill>
                <a:latin typeface="Segoe UI"/>
              </a:rPr>
              <a:t>4. Honest edges</a:t>
            </a:r>
          </a:p>
        </p:txBody>
      </p:sp>
      <p:sp>
        <p:nvSpPr>
          <p:cNvPr id="29" name="TextBox 28"/>
          <p:cNvSpPr txBox="1"/>
          <p:nvPr/>
        </p:nvSpPr>
        <p:spPr>
          <a:xfrm>
            <a:off x="8366760" y="5614416"/>
            <a:ext cx="3108960" cy="640080"/>
          </a:xfrm>
          <a:prstGeom prst="rect">
            <a:avLst/>
          </a:prstGeom>
          <a:noFill/>
        </p:spPr>
        <p:txBody>
          <a:bodyPr wrap="square">
            <a:spAutoFit/>
          </a:bodyPr>
          <a:lstStyle/>
          <a:p>
            <a:pPr algn="l"/>
            <a:r>
              <a:rPr sz="1200" b="0">
                <a:solidFill>
                  <a:srgbClr val="94A3B8"/>
                </a:solidFill>
                <a:latin typeface="Segoe UI"/>
              </a:rPr>
              <a:t>Not in the video? It says so, and can search the web, clearly labeled.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lgn="l"/>
            <a:r>
              <a:rPr sz="1200" b="1">
                <a:solidFill>
                  <a:srgbClr val="818CF8"/>
                </a:solidFill>
                <a:latin typeface="Segoe UI"/>
              </a:rPr>
              <a:t>BEFORE &amp; AFTER</a:t>
            </a:r>
          </a:p>
        </p:txBody>
      </p:sp>
      <p:sp>
        <p:nvSpPr>
          <p:cNvPr id="3" name="TextBox 2"/>
          <p:cNvSpPr txBox="1"/>
          <p:nvPr/>
        </p:nvSpPr>
        <p:spPr>
          <a:xfrm>
            <a:off x="10241280" y="320040"/>
            <a:ext cx="1371600" cy="365760"/>
          </a:xfrm>
          <a:prstGeom prst="rect">
            <a:avLst/>
          </a:prstGeom>
          <a:noFill/>
        </p:spPr>
        <p:txBody>
          <a:bodyPr wrap="square">
            <a:spAutoFit/>
          </a:bodyPr>
          <a:lstStyle/>
          <a:p>
            <a:pPr algn="r"/>
            <a:r>
              <a:rPr sz="1200" b="0">
                <a:solidFill>
                  <a:srgbClr val="94A3B8"/>
                </a:solidFill>
                <a:latin typeface="Segoe UI"/>
              </a:rPr>
              <a:t>04 / 06</a:t>
            </a:r>
          </a:p>
        </p:txBody>
      </p:sp>
      <p:sp>
        <p:nvSpPr>
          <p:cNvPr id="4" name="TextBox 3"/>
          <p:cNvSpPr txBox="1"/>
          <p:nvPr/>
        </p:nvSpPr>
        <p:spPr>
          <a:xfrm>
            <a:off x="548640" y="685800"/>
            <a:ext cx="11064240" cy="914400"/>
          </a:xfrm>
          <a:prstGeom prst="rect">
            <a:avLst/>
          </a:prstGeom>
          <a:noFill/>
        </p:spPr>
        <p:txBody>
          <a:bodyPr wrap="square">
            <a:spAutoFit/>
          </a:bodyPr>
          <a:lstStyle/>
          <a:p>
            <a:pPr algn="l"/>
            <a:r>
              <a:rPr sz="3400" b="1">
                <a:solidFill>
                  <a:srgbClr val="FFFFFF"/>
                </a:solidFill>
                <a:latin typeface="Segoe UI"/>
              </a:rPr>
              <a:t>The difference is stark</a:t>
            </a:r>
          </a:p>
        </p:txBody>
      </p:sp>
      <p:sp>
        <p:nvSpPr>
          <p:cNvPr id="5" name="TextBox 4"/>
          <p:cNvSpPr txBox="1"/>
          <p:nvPr/>
        </p:nvSpPr>
        <p:spPr>
          <a:xfrm>
            <a:off x="548640" y="6400800"/>
            <a:ext cx="11064240" cy="274320"/>
          </a:xfrm>
          <a:prstGeom prst="rect">
            <a:avLst/>
          </a:prstGeom>
          <a:noFill/>
        </p:spPr>
        <p:txBody>
          <a:bodyPr wrap="square">
            <a:spAutoFit/>
          </a:bodyPr>
          <a:lstStyle/>
          <a:p>
            <a:pPr algn="l"/>
            <a:r>
              <a:rPr sz="1000" b="0">
                <a:solidFill>
                  <a:srgbClr val="94A3B8"/>
                </a:solidFill>
                <a:latin typeface="Segoe UI"/>
              </a:rPr>
              <a:t>ContextBridge  ·  Team Naruto  ·  AI Builder Cup 2026  ·  contextbridge-web-c5ltxo3mkq-uc.a.run.app</a:t>
            </a:r>
          </a:p>
        </p:txBody>
      </p:sp>
      <p:sp>
        <p:nvSpPr>
          <p:cNvPr id="6" name="TextBox 5"/>
          <p:cNvSpPr txBox="1"/>
          <p:nvPr/>
        </p:nvSpPr>
        <p:spPr>
          <a:xfrm>
            <a:off x="4206240" y="1600200"/>
            <a:ext cx="3566160" cy="365760"/>
          </a:xfrm>
          <a:prstGeom prst="rect">
            <a:avLst/>
          </a:prstGeom>
          <a:noFill/>
        </p:spPr>
        <p:txBody>
          <a:bodyPr wrap="square">
            <a:spAutoFit/>
          </a:bodyPr>
          <a:lstStyle/>
          <a:p>
            <a:pPr algn="ctr"/>
            <a:r>
              <a:rPr sz="1400" b="1">
                <a:solidFill>
                  <a:srgbClr val="F87171"/>
                </a:solidFill>
                <a:latin typeface="Segoe UI"/>
              </a:rPr>
              <a:t>BEFORE</a:t>
            </a:r>
          </a:p>
        </p:txBody>
      </p:sp>
      <p:sp>
        <p:nvSpPr>
          <p:cNvPr id="7" name="TextBox 6"/>
          <p:cNvSpPr txBox="1"/>
          <p:nvPr/>
        </p:nvSpPr>
        <p:spPr>
          <a:xfrm>
            <a:off x="8001000" y="1600200"/>
            <a:ext cx="3657600" cy="365760"/>
          </a:xfrm>
          <a:prstGeom prst="rect">
            <a:avLst/>
          </a:prstGeom>
          <a:noFill/>
        </p:spPr>
        <p:txBody>
          <a:bodyPr wrap="square">
            <a:spAutoFit/>
          </a:bodyPr>
          <a:lstStyle/>
          <a:p>
            <a:pPr algn="ctr"/>
            <a:r>
              <a:rPr sz="1400" b="1">
                <a:solidFill>
                  <a:srgbClr val="34D399"/>
                </a:solidFill>
                <a:latin typeface="Segoe UI"/>
              </a:rPr>
              <a:t>AFTER - CONTEXTBRIDGE</a:t>
            </a:r>
          </a:p>
        </p:txBody>
      </p:sp>
      <p:sp>
        <p:nvSpPr>
          <p:cNvPr id="8" name="TextBox 7"/>
          <p:cNvSpPr txBox="1"/>
          <p:nvPr/>
        </p:nvSpPr>
        <p:spPr>
          <a:xfrm>
            <a:off x="548640" y="2194560"/>
            <a:ext cx="3566160" cy="548640"/>
          </a:xfrm>
          <a:prstGeom prst="rect">
            <a:avLst/>
          </a:prstGeom>
          <a:noFill/>
        </p:spPr>
        <p:txBody>
          <a:bodyPr wrap="square">
            <a:spAutoFit/>
          </a:bodyPr>
          <a:lstStyle/>
          <a:p>
            <a:pPr algn="l"/>
            <a:r>
              <a:rPr sz="1600" b="1">
                <a:solidFill>
                  <a:srgbClr val="FFFFFF"/>
                </a:solidFill>
                <a:latin typeface="Segoe UI"/>
              </a:rPr>
              <a:t>Find the exact moment</a:t>
            </a:r>
          </a:p>
        </p:txBody>
      </p:sp>
      <p:sp>
        <p:nvSpPr>
          <p:cNvPr id="9" name="Rounded Rectangle 8"/>
          <p:cNvSpPr/>
          <p:nvPr/>
        </p:nvSpPr>
        <p:spPr>
          <a:xfrm>
            <a:off x="4206240" y="2011680"/>
            <a:ext cx="3566160" cy="713232"/>
          </a:xfrm>
          <a:prstGeom prst="roundRect">
            <a:avLst>
              <a:gd name="adj" fmla="val 8000"/>
            </a:avLst>
          </a:prstGeom>
          <a:solidFill>
            <a:srgbClr val="2A1216"/>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2167128"/>
            <a:ext cx="3566160" cy="457200"/>
          </a:xfrm>
          <a:prstGeom prst="rect">
            <a:avLst/>
          </a:prstGeom>
          <a:noFill/>
        </p:spPr>
        <p:txBody>
          <a:bodyPr wrap="square">
            <a:spAutoFit/>
          </a:bodyPr>
          <a:lstStyle/>
          <a:p>
            <a:pPr algn="ctr"/>
            <a:r>
              <a:rPr sz="1700" b="0">
                <a:solidFill>
                  <a:srgbClr val="F87171"/>
                </a:solidFill>
                <a:latin typeface="Segoe UI"/>
              </a:rPr>
              <a:t>~3 min of scrubbing</a:t>
            </a:r>
          </a:p>
        </p:txBody>
      </p:sp>
      <p:sp>
        <p:nvSpPr>
          <p:cNvPr id="11" name="Rounded Rectangle 10"/>
          <p:cNvSpPr/>
          <p:nvPr/>
        </p:nvSpPr>
        <p:spPr>
          <a:xfrm>
            <a:off x="8001000" y="2011680"/>
            <a:ext cx="3657600" cy="713232"/>
          </a:xfrm>
          <a:prstGeom prst="roundRect">
            <a:avLst>
              <a:gd name="adj" fmla="val 8000"/>
            </a:avLst>
          </a:prstGeom>
          <a:solidFill>
            <a:srgbClr val="0E2A22"/>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2167128"/>
            <a:ext cx="3657600" cy="457200"/>
          </a:xfrm>
          <a:prstGeom prst="rect">
            <a:avLst/>
          </a:prstGeom>
          <a:noFill/>
        </p:spPr>
        <p:txBody>
          <a:bodyPr wrap="square">
            <a:spAutoFit/>
          </a:bodyPr>
          <a:lstStyle/>
          <a:p>
            <a:pPr algn="ctr"/>
            <a:r>
              <a:rPr sz="1700" b="1">
                <a:solidFill>
                  <a:srgbClr val="34D399"/>
                </a:solidFill>
                <a:latin typeface="Segoe UI"/>
              </a:rPr>
              <a:t>~6 s, one click</a:t>
            </a:r>
          </a:p>
        </p:txBody>
      </p:sp>
      <p:sp>
        <p:nvSpPr>
          <p:cNvPr id="13" name="TextBox 12"/>
          <p:cNvSpPr txBox="1"/>
          <p:nvPr/>
        </p:nvSpPr>
        <p:spPr>
          <a:xfrm>
            <a:off x="548640" y="2980944"/>
            <a:ext cx="3566160" cy="548640"/>
          </a:xfrm>
          <a:prstGeom prst="rect">
            <a:avLst/>
          </a:prstGeom>
          <a:noFill/>
        </p:spPr>
        <p:txBody>
          <a:bodyPr wrap="square">
            <a:spAutoFit/>
          </a:bodyPr>
          <a:lstStyle/>
          <a:p>
            <a:pPr algn="l"/>
            <a:r>
              <a:rPr sz="1600" b="1">
                <a:solidFill>
                  <a:srgbClr val="FFFFFF"/>
                </a:solidFill>
                <a:latin typeface="Segoe UI"/>
              </a:rPr>
              <a:t>Answers with invented quotes</a:t>
            </a:r>
          </a:p>
        </p:txBody>
      </p:sp>
      <p:sp>
        <p:nvSpPr>
          <p:cNvPr id="14" name="Rounded Rectangle 13"/>
          <p:cNvSpPr/>
          <p:nvPr/>
        </p:nvSpPr>
        <p:spPr>
          <a:xfrm>
            <a:off x="4206240" y="2798064"/>
            <a:ext cx="3566160" cy="713232"/>
          </a:xfrm>
          <a:prstGeom prst="roundRect">
            <a:avLst>
              <a:gd name="adj" fmla="val 8000"/>
            </a:avLst>
          </a:prstGeom>
          <a:solidFill>
            <a:srgbClr val="2A1216"/>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953512"/>
            <a:ext cx="3566160" cy="457200"/>
          </a:xfrm>
          <a:prstGeom prst="rect">
            <a:avLst/>
          </a:prstGeom>
          <a:noFill/>
        </p:spPr>
        <p:txBody>
          <a:bodyPr wrap="square">
            <a:spAutoFit/>
          </a:bodyPr>
          <a:lstStyle/>
          <a:p>
            <a:pPr algn="ctr"/>
            <a:r>
              <a:rPr sz="1700" b="0">
                <a:solidFill>
                  <a:srgbClr val="F87171"/>
                </a:solidFill>
                <a:latin typeface="Segoe UI"/>
              </a:rPr>
              <a:t>Unverifiable</a:t>
            </a:r>
          </a:p>
        </p:txBody>
      </p:sp>
      <p:sp>
        <p:nvSpPr>
          <p:cNvPr id="16" name="Rounded Rectangle 15"/>
          <p:cNvSpPr/>
          <p:nvPr/>
        </p:nvSpPr>
        <p:spPr>
          <a:xfrm>
            <a:off x="8001000" y="2798064"/>
            <a:ext cx="3657600" cy="713232"/>
          </a:xfrm>
          <a:prstGeom prst="roundRect">
            <a:avLst>
              <a:gd name="adj" fmla="val 8000"/>
            </a:avLst>
          </a:prstGeom>
          <a:solidFill>
            <a:srgbClr val="0E2A22"/>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2953512"/>
            <a:ext cx="3657600" cy="457200"/>
          </a:xfrm>
          <a:prstGeom prst="rect">
            <a:avLst/>
          </a:prstGeom>
          <a:noFill/>
        </p:spPr>
        <p:txBody>
          <a:bodyPr wrap="square">
            <a:spAutoFit/>
          </a:bodyPr>
          <a:lstStyle/>
          <a:p>
            <a:pPr algn="ctr"/>
            <a:r>
              <a:rPr sz="1700" b="1">
                <a:solidFill>
                  <a:srgbClr val="34D399"/>
                </a:solidFill>
                <a:latin typeface="Segoe UI"/>
              </a:rPr>
              <a:t>0%  (25-case eval)</a:t>
            </a:r>
          </a:p>
        </p:txBody>
      </p:sp>
      <p:sp>
        <p:nvSpPr>
          <p:cNvPr id="18" name="TextBox 17"/>
          <p:cNvSpPr txBox="1"/>
          <p:nvPr/>
        </p:nvSpPr>
        <p:spPr>
          <a:xfrm>
            <a:off x="548640" y="3767328"/>
            <a:ext cx="3566160" cy="548640"/>
          </a:xfrm>
          <a:prstGeom prst="rect">
            <a:avLst/>
          </a:prstGeom>
          <a:noFill/>
        </p:spPr>
        <p:txBody>
          <a:bodyPr wrap="square">
            <a:spAutoFit/>
          </a:bodyPr>
          <a:lstStyle/>
          <a:p>
            <a:pPr algn="l"/>
            <a:r>
              <a:rPr sz="1600" b="1">
                <a:solidFill>
                  <a:srgbClr val="FFFFFF"/>
                </a:solidFill>
                <a:latin typeface="Segoe UI"/>
              </a:rPr>
              <a:t>Correct timestamp</a:t>
            </a:r>
          </a:p>
        </p:txBody>
      </p:sp>
      <p:sp>
        <p:nvSpPr>
          <p:cNvPr id="19" name="Rounded Rectangle 18"/>
          <p:cNvSpPr/>
          <p:nvPr/>
        </p:nvSpPr>
        <p:spPr>
          <a:xfrm>
            <a:off x="4206240" y="3584448"/>
            <a:ext cx="3566160" cy="713232"/>
          </a:xfrm>
          <a:prstGeom prst="roundRect">
            <a:avLst>
              <a:gd name="adj" fmla="val 8000"/>
            </a:avLst>
          </a:prstGeom>
          <a:solidFill>
            <a:srgbClr val="2A1216"/>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3739896"/>
            <a:ext cx="3566160" cy="457200"/>
          </a:xfrm>
          <a:prstGeom prst="rect">
            <a:avLst/>
          </a:prstGeom>
          <a:noFill/>
        </p:spPr>
        <p:txBody>
          <a:bodyPr wrap="square">
            <a:spAutoFit/>
          </a:bodyPr>
          <a:lstStyle/>
          <a:p>
            <a:pPr algn="ctr"/>
            <a:r>
              <a:rPr sz="1700" b="0">
                <a:solidFill>
                  <a:srgbClr val="F87171"/>
                </a:solidFill>
                <a:latin typeface="Segoe UI"/>
              </a:rPr>
              <a:t>Guesswork</a:t>
            </a:r>
          </a:p>
        </p:txBody>
      </p:sp>
      <p:sp>
        <p:nvSpPr>
          <p:cNvPr id="21" name="Rounded Rectangle 20"/>
          <p:cNvSpPr/>
          <p:nvPr/>
        </p:nvSpPr>
        <p:spPr>
          <a:xfrm>
            <a:off x="8001000" y="3584448"/>
            <a:ext cx="3657600" cy="713232"/>
          </a:xfrm>
          <a:prstGeom prst="roundRect">
            <a:avLst>
              <a:gd name="adj" fmla="val 8000"/>
            </a:avLst>
          </a:prstGeom>
          <a:solidFill>
            <a:srgbClr val="0E2A22"/>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3739896"/>
            <a:ext cx="3657600" cy="457200"/>
          </a:xfrm>
          <a:prstGeom prst="rect">
            <a:avLst/>
          </a:prstGeom>
          <a:noFill/>
        </p:spPr>
        <p:txBody>
          <a:bodyPr wrap="square">
            <a:spAutoFit/>
          </a:bodyPr>
          <a:lstStyle/>
          <a:p>
            <a:pPr algn="ctr"/>
            <a:r>
              <a:rPr sz="1700" b="1">
                <a:solidFill>
                  <a:srgbClr val="34D399"/>
                </a:solidFill>
                <a:latin typeface="Segoe UI"/>
              </a:rPr>
              <a:t>100%  (25-case eval)</a:t>
            </a:r>
          </a:p>
        </p:txBody>
      </p:sp>
      <p:sp>
        <p:nvSpPr>
          <p:cNvPr id="23" name="TextBox 22"/>
          <p:cNvSpPr txBox="1"/>
          <p:nvPr/>
        </p:nvSpPr>
        <p:spPr>
          <a:xfrm>
            <a:off x="548640" y="4553712"/>
            <a:ext cx="3566160" cy="548640"/>
          </a:xfrm>
          <a:prstGeom prst="rect">
            <a:avLst/>
          </a:prstGeom>
          <a:noFill/>
        </p:spPr>
        <p:txBody>
          <a:bodyPr wrap="square">
            <a:spAutoFit/>
          </a:bodyPr>
          <a:lstStyle/>
          <a:p>
            <a:pPr algn="l"/>
            <a:r>
              <a:rPr sz="1600" b="1">
                <a:solidFill>
                  <a:srgbClr val="FFFFFF"/>
                </a:solidFill>
                <a:latin typeface="Segoe UI"/>
              </a:rPr>
              <a:t>Languages</a:t>
            </a:r>
          </a:p>
        </p:txBody>
      </p:sp>
      <p:sp>
        <p:nvSpPr>
          <p:cNvPr id="24" name="Rounded Rectangle 23"/>
          <p:cNvSpPr/>
          <p:nvPr/>
        </p:nvSpPr>
        <p:spPr>
          <a:xfrm>
            <a:off x="4206240" y="4370832"/>
            <a:ext cx="3566160" cy="713232"/>
          </a:xfrm>
          <a:prstGeom prst="roundRect">
            <a:avLst>
              <a:gd name="adj" fmla="val 8000"/>
            </a:avLst>
          </a:prstGeom>
          <a:solidFill>
            <a:srgbClr val="2A1216"/>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0" y="4526280"/>
            <a:ext cx="3566160" cy="457200"/>
          </a:xfrm>
          <a:prstGeom prst="rect">
            <a:avLst/>
          </a:prstGeom>
          <a:noFill/>
        </p:spPr>
        <p:txBody>
          <a:bodyPr wrap="square">
            <a:spAutoFit/>
          </a:bodyPr>
          <a:lstStyle/>
          <a:p>
            <a:pPr algn="ctr"/>
            <a:r>
              <a:rPr sz="1700" b="0">
                <a:solidFill>
                  <a:srgbClr val="F87171"/>
                </a:solidFill>
                <a:latin typeface="Segoe UI"/>
              </a:rPr>
              <a:t>English only</a:t>
            </a:r>
          </a:p>
        </p:txBody>
      </p:sp>
      <p:sp>
        <p:nvSpPr>
          <p:cNvPr id="26" name="Rounded Rectangle 25"/>
          <p:cNvSpPr/>
          <p:nvPr/>
        </p:nvSpPr>
        <p:spPr>
          <a:xfrm>
            <a:off x="8001000" y="4370832"/>
            <a:ext cx="3657600" cy="713232"/>
          </a:xfrm>
          <a:prstGeom prst="roundRect">
            <a:avLst>
              <a:gd name="adj" fmla="val 8000"/>
            </a:avLst>
          </a:prstGeom>
          <a:solidFill>
            <a:srgbClr val="0E2A22"/>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4526280"/>
            <a:ext cx="3657600" cy="457200"/>
          </a:xfrm>
          <a:prstGeom prst="rect">
            <a:avLst/>
          </a:prstGeom>
          <a:noFill/>
        </p:spPr>
        <p:txBody>
          <a:bodyPr wrap="square">
            <a:spAutoFit/>
          </a:bodyPr>
          <a:lstStyle/>
          <a:p>
            <a:pPr algn="ctr"/>
            <a:r>
              <a:rPr sz="1700" b="1">
                <a:solidFill>
                  <a:srgbClr val="34D399"/>
                </a:solidFill>
                <a:latin typeface="Segoe UI"/>
              </a:rPr>
              <a:t>English · Hindi · Hinglish + voice</a:t>
            </a:r>
          </a:p>
        </p:txBody>
      </p:sp>
      <p:sp>
        <p:nvSpPr>
          <p:cNvPr id="28" name="TextBox 27"/>
          <p:cNvSpPr txBox="1"/>
          <p:nvPr/>
        </p:nvSpPr>
        <p:spPr>
          <a:xfrm>
            <a:off x="548640" y="5340096"/>
            <a:ext cx="3566160" cy="548640"/>
          </a:xfrm>
          <a:prstGeom prst="rect">
            <a:avLst/>
          </a:prstGeom>
          <a:noFill/>
        </p:spPr>
        <p:txBody>
          <a:bodyPr wrap="square">
            <a:spAutoFit/>
          </a:bodyPr>
          <a:lstStyle/>
          <a:p>
            <a:pPr algn="l"/>
            <a:r>
              <a:rPr sz="1600" b="1">
                <a:solidFill>
                  <a:srgbClr val="FFFFFF"/>
                </a:solidFill>
                <a:latin typeface="Segoe UI"/>
              </a:rPr>
              <a:t>50-person team, per year</a:t>
            </a:r>
          </a:p>
        </p:txBody>
      </p:sp>
      <p:sp>
        <p:nvSpPr>
          <p:cNvPr id="29" name="Rounded Rectangle 28"/>
          <p:cNvSpPr/>
          <p:nvPr/>
        </p:nvSpPr>
        <p:spPr>
          <a:xfrm>
            <a:off x="4206240" y="5157216"/>
            <a:ext cx="3566160" cy="713232"/>
          </a:xfrm>
          <a:prstGeom prst="roundRect">
            <a:avLst>
              <a:gd name="adj" fmla="val 8000"/>
            </a:avLst>
          </a:prstGeom>
          <a:solidFill>
            <a:srgbClr val="2A1216"/>
          </a:solidFill>
          <a:ln>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6240" y="5312664"/>
            <a:ext cx="3566160" cy="457200"/>
          </a:xfrm>
          <a:prstGeom prst="rect">
            <a:avLst/>
          </a:prstGeom>
          <a:noFill/>
        </p:spPr>
        <p:txBody>
          <a:bodyPr wrap="square">
            <a:spAutoFit/>
          </a:bodyPr>
          <a:lstStyle/>
          <a:p>
            <a:pPr algn="ctr"/>
            <a:r>
              <a:rPr sz="1700" b="0">
                <a:solidFill>
                  <a:srgbClr val="F87171"/>
                </a:solidFill>
                <a:latin typeface="Segoe UI"/>
              </a:rPr>
              <a:t>6,000 h  ≈ $300,000</a:t>
            </a:r>
          </a:p>
        </p:txBody>
      </p:sp>
      <p:sp>
        <p:nvSpPr>
          <p:cNvPr id="31" name="Rounded Rectangle 30"/>
          <p:cNvSpPr/>
          <p:nvPr/>
        </p:nvSpPr>
        <p:spPr>
          <a:xfrm>
            <a:off x="8001000" y="5157216"/>
            <a:ext cx="3657600" cy="713232"/>
          </a:xfrm>
          <a:prstGeom prst="roundRect">
            <a:avLst>
              <a:gd name="adj" fmla="val 8000"/>
            </a:avLst>
          </a:prstGeom>
          <a:solidFill>
            <a:srgbClr val="0E2A22"/>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1000" y="5312664"/>
            <a:ext cx="3657600" cy="457200"/>
          </a:xfrm>
          <a:prstGeom prst="rect">
            <a:avLst/>
          </a:prstGeom>
          <a:noFill/>
        </p:spPr>
        <p:txBody>
          <a:bodyPr wrap="square">
            <a:spAutoFit/>
          </a:bodyPr>
          <a:lstStyle/>
          <a:p>
            <a:pPr algn="ctr"/>
            <a:r>
              <a:rPr sz="1700" b="1">
                <a:solidFill>
                  <a:srgbClr val="34D399"/>
                </a:solidFill>
                <a:latin typeface="Segoe UI"/>
              </a:rPr>
              <a:t>~400 h  ≈ $20,000</a:t>
            </a:r>
          </a:p>
        </p:txBody>
      </p:sp>
      <p:sp>
        <p:nvSpPr>
          <p:cNvPr id="33" name="TextBox 32"/>
          <p:cNvSpPr txBox="1"/>
          <p:nvPr/>
        </p:nvSpPr>
        <p:spPr>
          <a:xfrm>
            <a:off x="548640" y="6035040"/>
            <a:ext cx="10972800" cy="274320"/>
          </a:xfrm>
          <a:prstGeom prst="rect">
            <a:avLst/>
          </a:prstGeom>
          <a:noFill/>
        </p:spPr>
        <p:txBody>
          <a:bodyPr wrap="square">
            <a:spAutoFit/>
          </a:bodyPr>
          <a:lstStyle/>
          <a:p>
            <a:pPr algn="l"/>
            <a:r>
              <a:rPr sz="1000" b="0">
                <a:solidFill>
                  <a:srgbClr val="94A3B8"/>
                </a:solidFill>
                <a:latin typeface="Segoe UI"/>
              </a:rPr>
              <a:t>Measured: 25-case evaluation on the demo lesson. Before values and team cost: estimates (10 lookups/day, $50/h).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lgn="l"/>
            <a:r>
              <a:rPr sz="1200" b="1">
                <a:solidFill>
                  <a:srgbClr val="818CF8"/>
                </a:solidFill>
                <a:latin typeface="Segoe UI"/>
              </a:rPr>
              <a:t>ARCHITECTURE</a:t>
            </a:r>
          </a:p>
        </p:txBody>
      </p:sp>
      <p:sp>
        <p:nvSpPr>
          <p:cNvPr id="3" name="TextBox 2"/>
          <p:cNvSpPr txBox="1"/>
          <p:nvPr/>
        </p:nvSpPr>
        <p:spPr>
          <a:xfrm>
            <a:off x="10241280" y="320040"/>
            <a:ext cx="1371600" cy="365760"/>
          </a:xfrm>
          <a:prstGeom prst="rect">
            <a:avLst/>
          </a:prstGeom>
          <a:noFill/>
        </p:spPr>
        <p:txBody>
          <a:bodyPr wrap="square">
            <a:spAutoFit/>
          </a:bodyPr>
          <a:lstStyle/>
          <a:p>
            <a:pPr algn="r"/>
            <a:r>
              <a:rPr sz="1200" b="0">
                <a:solidFill>
                  <a:srgbClr val="94A3B8"/>
                </a:solidFill>
                <a:latin typeface="Segoe UI"/>
              </a:rPr>
              <a:t>05 / 06</a:t>
            </a:r>
          </a:p>
        </p:txBody>
      </p:sp>
      <p:sp>
        <p:nvSpPr>
          <p:cNvPr id="4" name="TextBox 3"/>
          <p:cNvSpPr txBox="1"/>
          <p:nvPr/>
        </p:nvSpPr>
        <p:spPr>
          <a:xfrm>
            <a:off x="548640" y="685800"/>
            <a:ext cx="11064240" cy="914400"/>
          </a:xfrm>
          <a:prstGeom prst="rect">
            <a:avLst/>
          </a:prstGeom>
          <a:noFill/>
        </p:spPr>
        <p:txBody>
          <a:bodyPr wrap="square">
            <a:spAutoFit/>
          </a:bodyPr>
          <a:lstStyle/>
          <a:p>
            <a:pPr algn="l"/>
            <a:r>
              <a:rPr sz="3400" b="1">
                <a:solidFill>
                  <a:srgbClr val="FFFFFF"/>
                </a:solidFill>
                <a:latin typeface="Segoe UI"/>
              </a:rPr>
              <a:t>Simple, robust pipeline + a self-checking AI agent</a:t>
            </a:r>
          </a:p>
        </p:txBody>
      </p:sp>
      <p:sp>
        <p:nvSpPr>
          <p:cNvPr id="5" name="TextBox 4"/>
          <p:cNvSpPr txBox="1"/>
          <p:nvPr/>
        </p:nvSpPr>
        <p:spPr>
          <a:xfrm>
            <a:off x="548640" y="6400800"/>
            <a:ext cx="11064240" cy="274320"/>
          </a:xfrm>
          <a:prstGeom prst="rect">
            <a:avLst/>
          </a:prstGeom>
          <a:noFill/>
        </p:spPr>
        <p:txBody>
          <a:bodyPr wrap="square">
            <a:spAutoFit/>
          </a:bodyPr>
          <a:lstStyle/>
          <a:p>
            <a:pPr algn="l"/>
            <a:r>
              <a:rPr sz="1000" b="0">
                <a:solidFill>
                  <a:srgbClr val="94A3B8"/>
                </a:solidFill>
                <a:latin typeface="Segoe UI"/>
              </a:rPr>
              <a:t>ContextBridge  ·  Team Naruto  ·  AI Builder Cup 2026  ·  contextbridge-web-c5ltxo3mkq-uc.a.run.app</a:t>
            </a:r>
          </a:p>
        </p:txBody>
      </p:sp>
      <p:sp>
        <p:nvSpPr>
          <p:cNvPr id="6" name="TextBox 5"/>
          <p:cNvSpPr txBox="1"/>
          <p:nvPr/>
        </p:nvSpPr>
        <p:spPr>
          <a:xfrm>
            <a:off x="548640" y="1554480"/>
            <a:ext cx="5486400" cy="365760"/>
          </a:xfrm>
          <a:prstGeom prst="rect">
            <a:avLst/>
          </a:prstGeom>
          <a:noFill/>
        </p:spPr>
        <p:txBody>
          <a:bodyPr wrap="square">
            <a:spAutoFit/>
          </a:bodyPr>
          <a:lstStyle/>
          <a:p>
            <a:pPr algn="l"/>
            <a:r>
              <a:rPr sz="1400" b="1">
                <a:solidFill>
                  <a:srgbClr val="818CF8"/>
                </a:solidFill>
                <a:latin typeface="Segoe UI"/>
              </a:rPr>
              <a:t>1 · INGEST ONCE (data pipeline)</a:t>
            </a:r>
          </a:p>
        </p:txBody>
      </p:sp>
      <p:sp>
        <p:nvSpPr>
          <p:cNvPr id="7" name="Rounded Rectangle 6"/>
          <p:cNvSpPr/>
          <p:nvPr/>
        </p:nvSpPr>
        <p:spPr>
          <a:xfrm>
            <a:off x="548640" y="1965960"/>
            <a:ext cx="2468880" cy="91440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2468880" cy="731520"/>
          </a:xfrm>
          <a:prstGeom prst="rect">
            <a:avLst/>
          </a:prstGeom>
          <a:noFill/>
        </p:spPr>
        <p:txBody>
          <a:bodyPr wrap="square">
            <a:spAutoFit/>
          </a:bodyPr>
          <a:lstStyle/>
          <a:p>
            <a:pPr algn="ctr"/>
            <a:r>
              <a:rPr sz="1400" b="1">
                <a:solidFill>
                  <a:srgbClr val="FFFFFF"/>
                </a:solidFill>
                <a:latin typeface="Segoe UI"/>
              </a:rPr>
              <a:t>Upload video</a:t>
            </a:r>
          </a:p>
        </p:txBody>
      </p:sp>
      <p:sp>
        <p:nvSpPr>
          <p:cNvPr id="9" name="TextBox 8"/>
          <p:cNvSpPr txBox="1"/>
          <p:nvPr/>
        </p:nvSpPr>
        <p:spPr>
          <a:xfrm>
            <a:off x="3017520" y="2148840"/>
            <a:ext cx="365760" cy="457200"/>
          </a:xfrm>
          <a:prstGeom prst="rect">
            <a:avLst/>
          </a:prstGeom>
          <a:noFill/>
        </p:spPr>
        <p:txBody>
          <a:bodyPr wrap="square">
            <a:spAutoFit/>
          </a:bodyPr>
          <a:lstStyle/>
          <a:p>
            <a:pPr algn="ctr"/>
            <a:r>
              <a:rPr sz="2200" b="0">
                <a:solidFill>
                  <a:srgbClr val="818CF8"/>
                </a:solidFill>
                <a:latin typeface="Segoe UI"/>
              </a:rPr>
              <a:t>→</a:t>
            </a:r>
          </a:p>
        </p:txBody>
      </p:sp>
      <p:sp>
        <p:nvSpPr>
          <p:cNvPr id="10" name="Rounded Rectangle 9"/>
          <p:cNvSpPr/>
          <p:nvPr/>
        </p:nvSpPr>
        <p:spPr>
          <a:xfrm>
            <a:off x="3383280" y="1965960"/>
            <a:ext cx="2468880" cy="91440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2103120"/>
            <a:ext cx="2468880" cy="731520"/>
          </a:xfrm>
          <a:prstGeom prst="rect">
            <a:avLst/>
          </a:prstGeom>
          <a:noFill/>
        </p:spPr>
        <p:txBody>
          <a:bodyPr wrap="square">
            <a:spAutoFit/>
          </a:bodyPr>
          <a:lstStyle/>
          <a:p>
            <a:pPr algn="ctr"/>
            <a:r>
              <a:rPr sz="1400" b="1">
                <a:solidFill>
                  <a:srgbClr val="FFFFFF"/>
                </a:solidFill>
                <a:latin typeface="Segoe UI"/>
              </a:rPr>
              <a:t>Gemini 2.5 Flash</a:t>
            </a:r>
          </a:p>
          <a:p>
            <a:pPr algn="ctr"/>
            <a:r>
              <a:rPr sz="1400" b="1">
                <a:solidFill>
                  <a:srgbClr val="FFFFFF"/>
                </a:solidFill>
                <a:latin typeface="Segoe UI"/>
              </a:rPr>
              <a:t>multimodal analysis</a:t>
            </a:r>
          </a:p>
        </p:txBody>
      </p:sp>
      <p:sp>
        <p:nvSpPr>
          <p:cNvPr id="12" name="TextBox 11"/>
          <p:cNvSpPr txBox="1"/>
          <p:nvPr/>
        </p:nvSpPr>
        <p:spPr>
          <a:xfrm>
            <a:off x="5852160" y="2148840"/>
            <a:ext cx="365760" cy="457200"/>
          </a:xfrm>
          <a:prstGeom prst="rect">
            <a:avLst/>
          </a:prstGeom>
          <a:noFill/>
        </p:spPr>
        <p:txBody>
          <a:bodyPr wrap="square">
            <a:spAutoFit/>
          </a:bodyPr>
          <a:lstStyle/>
          <a:p>
            <a:pPr algn="ctr"/>
            <a:r>
              <a:rPr sz="2200" b="0">
                <a:solidFill>
                  <a:srgbClr val="818CF8"/>
                </a:solidFill>
                <a:latin typeface="Segoe UI"/>
              </a:rPr>
              <a:t>→</a:t>
            </a:r>
          </a:p>
        </p:txBody>
      </p:sp>
      <p:sp>
        <p:nvSpPr>
          <p:cNvPr id="13" name="Rounded Rectangle 12"/>
          <p:cNvSpPr/>
          <p:nvPr/>
        </p:nvSpPr>
        <p:spPr>
          <a:xfrm>
            <a:off x="6217920" y="1965960"/>
            <a:ext cx="2468880" cy="91440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2103120"/>
            <a:ext cx="2468880" cy="731520"/>
          </a:xfrm>
          <a:prstGeom prst="rect">
            <a:avLst/>
          </a:prstGeom>
          <a:noFill/>
        </p:spPr>
        <p:txBody>
          <a:bodyPr wrap="square">
            <a:spAutoFit/>
          </a:bodyPr>
          <a:lstStyle/>
          <a:p>
            <a:pPr algn="ctr"/>
            <a:r>
              <a:rPr sz="1400" b="1">
                <a:solidFill>
                  <a:srgbClr val="FFFFFF"/>
                </a:solidFill>
                <a:latin typeface="Segoe UI"/>
              </a:rPr>
              <a:t>Schema</a:t>
            </a:r>
          </a:p>
          <a:p>
            <a:pPr algn="ctr"/>
            <a:r>
              <a:rPr sz="1400" b="1">
                <a:solidFill>
                  <a:srgbClr val="FFFFFF"/>
                </a:solidFill>
                <a:latin typeface="Segoe UI"/>
              </a:rPr>
              <a:t>validation gate</a:t>
            </a:r>
          </a:p>
        </p:txBody>
      </p:sp>
      <p:sp>
        <p:nvSpPr>
          <p:cNvPr id="15" name="TextBox 14"/>
          <p:cNvSpPr txBox="1"/>
          <p:nvPr/>
        </p:nvSpPr>
        <p:spPr>
          <a:xfrm>
            <a:off x="8686800" y="2148840"/>
            <a:ext cx="365760" cy="457200"/>
          </a:xfrm>
          <a:prstGeom prst="rect">
            <a:avLst/>
          </a:prstGeom>
          <a:noFill/>
        </p:spPr>
        <p:txBody>
          <a:bodyPr wrap="square">
            <a:spAutoFit/>
          </a:bodyPr>
          <a:lstStyle/>
          <a:p>
            <a:pPr algn="ctr"/>
            <a:r>
              <a:rPr sz="2200" b="0">
                <a:solidFill>
                  <a:srgbClr val="818CF8"/>
                </a:solidFill>
                <a:latin typeface="Segoe UI"/>
              </a:rPr>
              <a:t>→</a:t>
            </a:r>
          </a:p>
        </p:txBody>
      </p:sp>
      <p:sp>
        <p:nvSpPr>
          <p:cNvPr id="16" name="Rounded Rectangle 15"/>
          <p:cNvSpPr/>
          <p:nvPr/>
        </p:nvSpPr>
        <p:spPr>
          <a:xfrm>
            <a:off x="9052560" y="1965960"/>
            <a:ext cx="2468880" cy="91440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2103120"/>
            <a:ext cx="2468880" cy="731520"/>
          </a:xfrm>
          <a:prstGeom prst="rect">
            <a:avLst/>
          </a:prstGeom>
          <a:noFill/>
        </p:spPr>
        <p:txBody>
          <a:bodyPr wrap="square">
            <a:spAutoFit/>
          </a:bodyPr>
          <a:lstStyle/>
          <a:p>
            <a:pPr algn="ctr"/>
            <a:r>
              <a:rPr sz="1400" b="1">
                <a:solidFill>
                  <a:srgbClr val="FFFFFF"/>
                </a:solidFill>
                <a:latin typeface="Segoe UI"/>
              </a:rPr>
              <a:t>Stored index</a:t>
            </a:r>
          </a:p>
          <a:p>
            <a:pPr algn="ctr"/>
            <a:r>
              <a:rPr sz="1400" b="1">
                <a:solidFill>
                  <a:srgbClr val="FFFFFF"/>
                </a:solidFill>
                <a:latin typeface="Segoe UI"/>
              </a:rPr>
              <a:t>SQLite + GCS</a:t>
            </a:r>
          </a:p>
        </p:txBody>
      </p:sp>
      <p:sp>
        <p:nvSpPr>
          <p:cNvPr id="18" name="TextBox 17"/>
          <p:cNvSpPr txBox="1"/>
          <p:nvPr/>
        </p:nvSpPr>
        <p:spPr>
          <a:xfrm>
            <a:off x="548640" y="3154680"/>
            <a:ext cx="7315200" cy="365760"/>
          </a:xfrm>
          <a:prstGeom prst="rect">
            <a:avLst/>
          </a:prstGeom>
          <a:noFill/>
        </p:spPr>
        <p:txBody>
          <a:bodyPr wrap="square">
            <a:spAutoFit/>
          </a:bodyPr>
          <a:lstStyle/>
          <a:p>
            <a:pPr algn="l"/>
            <a:r>
              <a:rPr sz="1400" b="1">
                <a:solidFill>
                  <a:srgbClr val="34D399"/>
                </a:solidFill>
                <a:latin typeface="Segoe UI"/>
              </a:rPr>
              <a:t>2 · EVERY QUESTION (AI orchestration: ≤ 2 model calls, 1 retry)</a:t>
            </a:r>
          </a:p>
        </p:txBody>
      </p:sp>
      <p:sp>
        <p:nvSpPr>
          <p:cNvPr id="19" name="Rounded Rectangle 18"/>
          <p:cNvSpPr/>
          <p:nvPr/>
        </p:nvSpPr>
        <p:spPr>
          <a:xfrm>
            <a:off x="548640" y="3566160"/>
            <a:ext cx="1920240" cy="96012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75887"/>
            <a:ext cx="1920240" cy="822960"/>
          </a:xfrm>
          <a:prstGeom prst="rect">
            <a:avLst/>
          </a:prstGeom>
          <a:noFill/>
        </p:spPr>
        <p:txBody>
          <a:bodyPr wrap="square">
            <a:spAutoFit/>
          </a:bodyPr>
          <a:lstStyle/>
          <a:p>
            <a:pPr algn="ctr"/>
            <a:r>
              <a:rPr sz="1300" b="1">
                <a:solidFill>
                  <a:srgbClr val="FFFFFF"/>
                </a:solidFill>
                <a:latin typeface="Segoe UI"/>
              </a:rPr>
              <a:t>Question</a:t>
            </a:r>
          </a:p>
          <a:p>
            <a:pPr algn="ctr"/>
            <a:r>
              <a:rPr sz="1300" b="1">
                <a:solidFill>
                  <a:srgbClr val="FFFFFF"/>
                </a:solidFill>
                <a:latin typeface="Segoe UI"/>
              </a:rPr>
              <a:t>(text / voice)</a:t>
            </a:r>
          </a:p>
        </p:txBody>
      </p:sp>
      <p:sp>
        <p:nvSpPr>
          <p:cNvPr id="21" name="TextBox 20"/>
          <p:cNvSpPr txBox="1"/>
          <p:nvPr/>
        </p:nvSpPr>
        <p:spPr>
          <a:xfrm>
            <a:off x="2468880" y="3749039"/>
            <a:ext cx="347472" cy="457200"/>
          </a:xfrm>
          <a:prstGeom prst="rect">
            <a:avLst/>
          </a:prstGeom>
          <a:noFill/>
        </p:spPr>
        <p:txBody>
          <a:bodyPr wrap="square">
            <a:spAutoFit/>
          </a:bodyPr>
          <a:lstStyle/>
          <a:p>
            <a:pPr algn="ctr"/>
            <a:r>
              <a:rPr sz="2200" b="0">
                <a:solidFill>
                  <a:srgbClr val="34D399"/>
                </a:solidFill>
                <a:latin typeface="Segoe UI"/>
              </a:rPr>
              <a:t>→</a:t>
            </a:r>
          </a:p>
        </p:txBody>
      </p:sp>
      <p:sp>
        <p:nvSpPr>
          <p:cNvPr id="22" name="Rounded Rectangle 21"/>
          <p:cNvSpPr/>
          <p:nvPr/>
        </p:nvSpPr>
        <p:spPr>
          <a:xfrm>
            <a:off x="2816352" y="3566160"/>
            <a:ext cx="1920240" cy="96012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16352" y="3675887"/>
            <a:ext cx="1920240" cy="822960"/>
          </a:xfrm>
          <a:prstGeom prst="rect">
            <a:avLst/>
          </a:prstGeom>
          <a:noFill/>
        </p:spPr>
        <p:txBody>
          <a:bodyPr wrap="square">
            <a:spAutoFit/>
          </a:bodyPr>
          <a:lstStyle/>
          <a:p>
            <a:pPr algn="ctr"/>
            <a:r>
              <a:rPr sz="1300" b="1">
                <a:solidFill>
                  <a:srgbClr val="FFFFFF"/>
                </a:solidFill>
                <a:latin typeface="Segoe UI"/>
              </a:rPr>
              <a:t>Find evidence</a:t>
            </a:r>
          </a:p>
          <a:p>
            <a:pPr algn="ctr"/>
            <a:r>
              <a:rPr sz="1300" b="1">
                <a:solidFill>
                  <a:srgbClr val="FFFFFF"/>
                </a:solidFill>
                <a:latin typeface="Segoe UI"/>
              </a:rPr>
              <a:t>in the index</a:t>
            </a:r>
          </a:p>
        </p:txBody>
      </p:sp>
      <p:sp>
        <p:nvSpPr>
          <p:cNvPr id="24" name="TextBox 23"/>
          <p:cNvSpPr txBox="1"/>
          <p:nvPr/>
        </p:nvSpPr>
        <p:spPr>
          <a:xfrm>
            <a:off x="4736592" y="3749039"/>
            <a:ext cx="347472" cy="457200"/>
          </a:xfrm>
          <a:prstGeom prst="rect">
            <a:avLst/>
          </a:prstGeom>
          <a:noFill/>
        </p:spPr>
        <p:txBody>
          <a:bodyPr wrap="square">
            <a:spAutoFit/>
          </a:bodyPr>
          <a:lstStyle/>
          <a:p>
            <a:pPr algn="ctr"/>
            <a:r>
              <a:rPr sz="2200" b="0">
                <a:solidFill>
                  <a:srgbClr val="34D399"/>
                </a:solidFill>
                <a:latin typeface="Segoe UI"/>
              </a:rPr>
              <a:t>→</a:t>
            </a:r>
          </a:p>
        </p:txBody>
      </p:sp>
      <p:sp>
        <p:nvSpPr>
          <p:cNvPr id="25" name="Rounded Rectangle 24"/>
          <p:cNvSpPr/>
          <p:nvPr/>
        </p:nvSpPr>
        <p:spPr>
          <a:xfrm>
            <a:off x="5084064" y="3566160"/>
            <a:ext cx="1920240" cy="96012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4064" y="3675887"/>
            <a:ext cx="1920240" cy="822960"/>
          </a:xfrm>
          <a:prstGeom prst="rect">
            <a:avLst/>
          </a:prstGeom>
          <a:noFill/>
        </p:spPr>
        <p:txBody>
          <a:bodyPr wrap="square">
            <a:spAutoFit/>
          </a:bodyPr>
          <a:lstStyle/>
          <a:p>
            <a:pPr algn="ctr"/>
            <a:r>
              <a:rPr sz="1300" b="1">
                <a:solidFill>
                  <a:srgbClr val="FFFFFF"/>
                </a:solidFill>
                <a:latin typeface="Segoe UI"/>
              </a:rPr>
              <a:t>Draft answer</a:t>
            </a:r>
          </a:p>
          <a:p>
            <a:pPr algn="ctr"/>
            <a:r>
              <a:rPr sz="1300" b="1">
                <a:solidFill>
                  <a:srgbClr val="FFFFFF"/>
                </a:solidFill>
                <a:latin typeface="Segoe UI"/>
              </a:rPr>
              <a:t>(Gemini)</a:t>
            </a:r>
          </a:p>
        </p:txBody>
      </p:sp>
      <p:sp>
        <p:nvSpPr>
          <p:cNvPr id="27" name="TextBox 26"/>
          <p:cNvSpPr txBox="1"/>
          <p:nvPr/>
        </p:nvSpPr>
        <p:spPr>
          <a:xfrm>
            <a:off x="7004304" y="3749039"/>
            <a:ext cx="347472" cy="457200"/>
          </a:xfrm>
          <a:prstGeom prst="rect">
            <a:avLst/>
          </a:prstGeom>
          <a:noFill/>
        </p:spPr>
        <p:txBody>
          <a:bodyPr wrap="square">
            <a:spAutoFit/>
          </a:bodyPr>
          <a:lstStyle/>
          <a:p>
            <a:pPr algn="ctr"/>
            <a:r>
              <a:rPr sz="2200" b="0">
                <a:solidFill>
                  <a:srgbClr val="34D399"/>
                </a:solidFill>
                <a:latin typeface="Segoe UI"/>
              </a:rPr>
              <a:t>→</a:t>
            </a:r>
          </a:p>
        </p:txBody>
      </p:sp>
      <p:sp>
        <p:nvSpPr>
          <p:cNvPr id="28" name="Rounded Rectangle 27"/>
          <p:cNvSpPr/>
          <p:nvPr/>
        </p:nvSpPr>
        <p:spPr>
          <a:xfrm>
            <a:off x="7351775" y="3566160"/>
            <a:ext cx="1920240" cy="96012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51775" y="3675887"/>
            <a:ext cx="1920240" cy="822960"/>
          </a:xfrm>
          <a:prstGeom prst="rect">
            <a:avLst/>
          </a:prstGeom>
          <a:noFill/>
        </p:spPr>
        <p:txBody>
          <a:bodyPr wrap="square">
            <a:spAutoFit/>
          </a:bodyPr>
          <a:lstStyle/>
          <a:p>
            <a:pPr algn="ctr"/>
            <a:r>
              <a:rPr sz="1300" b="1">
                <a:solidFill>
                  <a:srgbClr val="FFFFFF"/>
                </a:solidFill>
                <a:latin typeface="Segoe UI"/>
              </a:rPr>
              <a:t>Verify quote +</a:t>
            </a:r>
          </a:p>
          <a:p>
            <a:pPr algn="ctr"/>
            <a:r>
              <a:rPr sz="1300" b="1">
                <a:solidFill>
                  <a:srgbClr val="FFFFFF"/>
                </a:solidFill>
                <a:latin typeface="Segoe UI"/>
              </a:rPr>
              <a:t>timestamp</a:t>
            </a:r>
          </a:p>
        </p:txBody>
      </p:sp>
      <p:sp>
        <p:nvSpPr>
          <p:cNvPr id="30" name="TextBox 29"/>
          <p:cNvSpPr txBox="1"/>
          <p:nvPr/>
        </p:nvSpPr>
        <p:spPr>
          <a:xfrm>
            <a:off x="9272015" y="3749039"/>
            <a:ext cx="347472" cy="457200"/>
          </a:xfrm>
          <a:prstGeom prst="rect">
            <a:avLst/>
          </a:prstGeom>
          <a:noFill/>
        </p:spPr>
        <p:txBody>
          <a:bodyPr wrap="square">
            <a:spAutoFit/>
          </a:bodyPr>
          <a:lstStyle/>
          <a:p>
            <a:pPr algn="ctr"/>
            <a:r>
              <a:rPr sz="2200" b="0">
                <a:solidFill>
                  <a:srgbClr val="34D399"/>
                </a:solidFill>
                <a:latin typeface="Segoe UI"/>
              </a:rPr>
              <a:t>→</a:t>
            </a:r>
          </a:p>
        </p:txBody>
      </p:sp>
      <p:sp>
        <p:nvSpPr>
          <p:cNvPr id="31" name="Rounded Rectangle 30"/>
          <p:cNvSpPr/>
          <p:nvPr/>
        </p:nvSpPr>
        <p:spPr>
          <a:xfrm>
            <a:off x="9619488" y="3566160"/>
            <a:ext cx="1920240" cy="96012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19488" y="3675887"/>
            <a:ext cx="1920240" cy="822960"/>
          </a:xfrm>
          <a:prstGeom prst="rect">
            <a:avLst/>
          </a:prstGeom>
          <a:noFill/>
        </p:spPr>
        <p:txBody>
          <a:bodyPr wrap="square">
            <a:spAutoFit/>
          </a:bodyPr>
          <a:lstStyle/>
          <a:p>
            <a:pPr algn="ctr"/>
            <a:r>
              <a:rPr sz="1300" b="1">
                <a:solidFill>
                  <a:srgbClr val="FFFFFF"/>
                </a:solidFill>
                <a:latin typeface="Segoe UI"/>
              </a:rPr>
              <a:t>Answer + proof</a:t>
            </a:r>
          </a:p>
          <a:p>
            <a:pPr algn="ctr"/>
            <a:r>
              <a:rPr sz="1300" b="1">
                <a:solidFill>
                  <a:srgbClr val="FFFFFF"/>
                </a:solidFill>
                <a:latin typeface="Segoe UI"/>
              </a:rPr>
              <a:t>or honest 'not found'</a:t>
            </a:r>
          </a:p>
        </p:txBody>
      </p:sp>
      <p:sp>
        <p:nvSpPr>
          <p:cNvPr id="33" name="Rounded Rectangle 32"/>
          <p:cNvSpPr/>
          <p:nvPr/>
        </p:nvSpPr>
        <p:spPr>
          <a:xfrm>
            <a:off x="548640" y="4800600"/>
            <a:ext cx="3566160" cy="1371600"/>
          </a:xfrm>
          <a:prstGeom prst="roundRect">
            <a:avLst>
              <a:gd name="adj" fmla="val 8000"/>
            </a:avLst>
          </a:prstGeom>
          <a:solidFill>
            <a:srgbClr val="151B2B"/>
          </a:solidFill>
          <a:ln>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983480"/>
            <a:ext cx="3108960" cy="548640"/>
          </a:xfrm>
          <a:prstGeom prst="rect">
            <a:avLst/>
          </a:prstGeom>
          <a:noFill/>
        </p:spPr>
        <p:txBody>
          <a:bodyPr wrap="square">
            <a:spAutoFit/>
          </a:bodyPr>
          <a:lstStyle/>
          <a:p>
            <a:pPr algn="l"/>
            <a:r>
              <a:rPr sz="1600" b="1">
                <a:solidFill>
                  <a:srgbClr val="38BDF8"/>
                </a:solidFill>
                <a:latin typeface="Segoe UI"/>
              </a:rPr>
              <a:t>Separate web branch</a:t>
            </a:r>
          </a:p>
        </p:txBody>
      </p:sp>
      <p:sp>
        <p:nvSpPr>
          <p:cNvPr id="35" name="TextBox 34"/>
          <p:cNvSpPr txBox="1"/>
          <p:nvPr/>
        </p:nvSpPr>
        <p:spPr>
          <a:xfrm>
            <a:off x="777240" y="5577840"/>
            <a:ext cx="3108960" cy="457200"/>
          </a:xfrm>
          <a:prstGeom prst="rect">
            <a:avLst/>
          </a:prstGeom>
          <a:noFill/>
        </p:spPr>
        <p:txBody>
          <a:bodyPr wrap="square">
            <a:spAutoFit/>
          </a:bodyPr>
          <a:lstStyle/>
          <a:p>
            <a:pPr algn="l"/>
            <a:r>
              <a:rPr sz="1200" b="0">
                <a:solidFill>
                  <a:srgbClr val="94A3B8"/>
                </a:solidFill>
                <a:latin typeface="Segoe UI"/>
              </a:rPr>
              <a:t>Google Search grounding only when the video lacks the answer - always labeled.</a:t>
            </a:r>
          </a:p>
        </p:txBody>
      </p:sp>
      <p:sp>
        <p:nvSpPr>
          <p:cNvPr id="36" name="Rounded Rectangle 35"/>
          <p:cNvSpPr/>
          <p:nvPr/>
        </p:nvSpPr>
        <p:spPr>
          <a:xfrm>
            <a:off x="4315968" y="4800600"/>
            <a:ext cx="3566160" cy="1371600"/>
          </a:xfrm>
          <a:prstGeom prst="roundRect">
            <a:avLst>
              <a:gd name="adj" fmla="val 8000"/>
            </a:avLst>
          </a:prstGeom>
          <a:solidFill>
            <a:srgbClr val="151B2B"/>
          </a:solidFill>
          <a:ln>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44568" y="4983480"/>
            <a:ext cx="3108960" cy="548640"/>
          </a:xfrm>
          <a:prstGeom prst="rect">
            <a:avLst/>
          </a:prstGeom>
          <a:noFill/>
        </p:spPr>
        <p:txBody>
          <a:bodyPr wrap="square">
            <a:spAutoFit/>
          </a:bodyPr>
          <a:lstStyle/>
          <a:p>
            <a:pPr algn="l"/>
            <a:r>
              <a:rPr sz="1600" b="1">
                <a:solidFill>
                  <a:srgbClr val="FBBF24"/>
                </a:solidFill>
                <a:latin typeface="Segoe UI"/>
              </a:rPr>
              <a:t>Anti-fabrication gate</a:t>
            </a:r>
          </a:p>
        </p:txBody>
      </p:sp>
      <p:sp>
        <p:nvSpPr>
          <p:cNvPr id="38" name="TextBox 37"/>
          <p:cNvSpPr txBox="1"/>
          <p:nvPr/>
        </p:nvSpPr>
        <p:spPr>
          <a:xfrm>
            <a:off x="4544568" y="5577840"/>
            <a:ext cx="3108960" cy="457200"/>
          </a:xfrm>
          <a:prstGeom prst="rect">
            <a:avLst/>
          </a:prstGeom>
          <a:noFill/>
        </p:spPr>
        <p:txBody>
          <a:bodyPr wrap="square">
            <a:spAutoFit/>
          </a:bodyPr>
          <a:lstStyle/>
          <a:p>
            <a:pPr algn="l"/>
            <a:r>
              <a:rPr sz="1200" b="0">
                <a:solidFill>
                  <a:srgbClr val="94A3B8"/>
                </a:solidFill>
                <a:latin typeface="Segoe UI"/>
              </a:rPr>
              <a:t>Quotes must appear in the transcript; timestamps must be inside the video.</a:t>
            </a:r>
          </a:p>
        </p:txBody>
      </p:sp>
      <p:sp>
        <p:nvSpPr>
          <p:cNvPr id="39" name="Rounded Rectangle 38"/>
          <p:cNvSpPr/>
          <p:nvPr/>
        </p:nvSpPr>
        <p:spPr>
          <a:xfrm>
            <a:off x="8083296" y="4800600"/>
            <a:ext cx="3566160" cy="137160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11896" y="4983480"/>
            <a:ext cx="3108960" cy="548640"/>
          </a:xfrm>
          <a:prstGeom prst="rect">
            <a:avLst/>
          </a:prstGeom>
          <a:noFill/>
        </p:spPr>
        <p:txBody>
          <a:bodyPr wrap="square">
            <a:spAutoFit/>
          </a:bodyPr>
          <a:lstStyle/>
          <a:p>
            <a:pPr algn="l"/>
            <a:r>
              <a:rPr sz="1600" b="1">
                <a:solidFill>
                  <a:srgbClr val="818CF8"/>
                </a:solidFill>
                <a:latin typeface="Segoe UI"/>
              </a:rPr>
              <a:t>Production-ready</a:t>
            </a:r>
          </a:p>
        </p:txBody>
      </p:sp>
      <p:sp>
        <p:nvSpPr>
          <p:cNvPr id="41" name="TextBox 40"/>
          <p:cNvSpPr txBox="1"/>
          <p:nvPr/>
        </p:nvSpPr>
        <p:spPr>
          <a:xfrm>
            <a:off x="8311896" y="5577840"/>
            <a:ext cx="3108960" cy="457200"/>
          </a:xfrm>
          <a:prstGeom prst="rect">
            <a:avLst/>
          </a:prstGeom>
          <a:noFill/>
        </p:spPr>
        <p:txBody>
          <a:bodyPr wrap="square">
            <a:spAutoFit/>
          </a:bodyPr>
          <a:lstStyle/>
          <a:p>
            <a:pPr algn="l"/>
            <a:r>
              <a:rPr sz="1200" b="0">
                <a:solidFill>
                  <a:srgbClr val="94A3B8"/>
                </a:solidFill>
                <a:latin typeface="Segoe UI"/>
              </a:rPr>
              <a:t>Stateless FastAPI + Next.js on Google Cloud Run, Vertex AI, eval harness.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lgn="l"/>
            <a:r>
              <a:rPr sz="1200" b="1">
                <a:solidFill>
                  <a:srgbClr val="818CF8"/>
                </a:solidFill>
                <a:latin typeface="Segoe UI"/>
              </a:rPr>
              <a:t>TEAM &amp; EXECUTION</a:t>
            </a:r>
          </a:p>
        </p:txBody>
      </p:sp>
      <p:sp>
        <p:nvSpPr>
          <p:cNvPr id="3" name="TextBox 2"/>
          <p:cNvSpPr txBox="1"/>
          <p:nvPr/>
        </p:nvSpPr>
        <p:spPr>
          <a:xfrm>
            <a:off x="10241280" y="320040"/>
            <a:ext cx="1371600" cy="365760"/>
          </a:xfrm>
          <a:prstGeom prst="rect">
            <a:avLst/>
          </a:prstGeom>
          <a:noFill/>
        </p:spPr>
        <p:txBody>
          <a:bodyPr wrap="square">
            <a:spAutoFit/>
          </a:bodyPr>
          <a:lstStyle/>
          <a:p>
            <a:pPr algn="r"/>
            <a:r>
              <a:rPr sz="1200" b="0">
                <a:solidFill>
                  <a:srgbClr val="94A3B8"/>
                </a:solidFill>
                <a:latin typeface="Segoe UI"/>
              </a:rPr>
              <a:t>06 / 06</a:t>
            </a:r>
          </a:p>
        </p:txBody>
      </p:sp>
      <p:sp>
        <p:nvSpPr>
          <p:cNvPr id="4" name="TextBox 3"/>
          <p:cNvSpPr txBox="1"/>
          <p:nvPr/>
        </p:nvSpPr>
        <p:spPr>
          <a:xfrm>
            <a:off x="548640" y="685800"/>
            <a:ext cx="11064240" cy="914400"/>
          </a:xfrm>
          <a:prstGeom prst="rect">
            <a:avLst/>
          </a:prstGeom>
          <a:noFill/>
        </p:spPr>
        <p:txBody>
          <a:bodyPr wrap="square">
            <a:spAutoFit/>
          </a:bodyPr>
          <a:lstStyle/>
          <a:p>
            <a:pPr algn="l"/>
            <a:r>
              <a:rPr sz="3400" b="1">
                <a:solidFill>
                  <a:srgbClr val="FFFFFF"/>
                </a:solidFill>
                <a:latin typeface="Segoe UI"/>
              </a:rPr>
              <a:t>Team Naruto: enterprise engineering that ships</a:t>
            </a:r>
          </a:p>
        </p:txBody>
      </p:sp>
      <p:sp>
        <p:nvSpPr>
          <p:cNvPr id="5" name="TextBox 4"/>
          <p:cNvSpPr txBox="1"/>
          <p:nvPr/>
        </p:nvSpPr>
        <p:spPr>
          <a:xfrm>
            <a:off x="548640" y="6400800"/>
            <a:ext cx="11064240" cy="274320"/>
          </a:xfrm>
          <a:prstGeom prst="rect">
            <a:avLst/>
          </a:prstGeom>
          <a:noFill/>
        </p:spPr>
        <p:txBody>
          <a:bodyPr wrap="square">
            <a:spAutoFit/>
          </a:bodyPr>
          <a:lstStyle/>
          <a:p>
            <a:pPr algn="l"/>
            <a:r>
              <a:rPr sz="1000" b="0">
                <a:solidFill>
                  <a:srgbClr val="94A3B8"/>
                </a:solidFill>
                <a:latin typeface="Segoe UI"/>
              </a:rPr>
              <a:t>ContextBridge  ·  Team Naruto  ·  AI Builder Cup 2026  ·  contextbridge-web-c5ltxo3mkq-uc.a.run.app</a:t>
            </a:r>
          </a:p>
        </p:txBody>
      </p:sp>
      <p:sp>
        <p:nvSpPr>
          <p:cNvPr id="6" name="Rounded Rectangle 5"/>
          <p:cNvSpPr/>
          <p:nvPr/>
        </p:nvSpPr>
        <p:spPr>
          <a:xfrm>
            <a:off x="548640" y="1737360"/>
            <a:ext cx="5394960" cy="2194560"/>
          </a:xfrm>
          <a:prstGeom prst="roundRect">
            <a:avLst>
              <a:gd name="adj" fmla="val 8000"/>
            </a:avLst>
          </a:prstGeom>
          <a:solidFill>
            <a:srgbClr val="151B2B"/>
          </a:solidFill>
          <a:ln>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4937760" cy="548640"/>
          </a:xfrm>
          <a:prstGeom prst="rect">
            <a:avLst/>
          </a:prstGeom>
          <a:noFill/>
        </p:spPr>
        <p:txBody>
          <a:bodyPr wrap="square">
            <a:spAutoFit/>
          </a:bodyPr>
          <a:lstStyle/>
          <a:p>
            <a:pPr algn="l"/>
            <a:r>
              <a:rPr sz="2200" b="1">
                <a:solidFill>
                  <a:srgbClr val="34D399"/>
                </a:solidFill>
                <a:latin typeface="Segoe UI"/>
              </a:rPr>
              <a:t>Mohit Singh - Team Leader</a:t>
            </a:r>
          </a:p>
        </p:txBody>
      </p:sp>
      <p:sp>
        <p:nvSpPr>
          <p:cNvPr id="8" name="TextBox 7"/>
          <p:cNvSpPr txBox="1"/>
          <p:nvPr/>
        </p:nvSpPr>
        <p:spPr>
          <a:xfrm>
            <a:off x="777240" y="2514600"/>
            <a:ext cx="4937760" cy="1280160"/>
          </a:xfrm>
          <a:prstGeom prst="rect">
            <a:avLst/>
          </a:prstGeom>
          <a:noFill/>
        </p:spPr>
        <p:txBody>
          <a:bodyPr wrap="square">
            <a:spAutoFit/>
          </a:bodyPr>
          <a:lstStyle/>
          <a:p>
            <a:pPr algn="l"/>
            <a:r>
              <a:rPr sz="1500" b="0">
                <a:solidFill>
                  <a:srgbClr val="94A3B8"/>
                </a:solidFill>
                <a:latin typeface="Segoe UI"/>
              </a:rPr>
              <a:t>10+ years of enterprise engineering.</a:t>
            </a:r>
          </a:p>
          <a:p>
            <a:pPr algn="l"/>
            <a:r>
              <a:rPr sz="1500" b="0">
                <a:solidFill>
                  <a:srgbClr val="94A3B8"/>
                </a:solidFill>
                <a:latin typeface="Segoe UI"/>
              </a:rPr>
              <a:t>Reliable, secure, production systems.</a:t>
            </a:r>
          </a:p>
          <a:p>
            <a:pPr algn="l"/>
            <a:r>
              <a:rPr sz="1500" b="0">
                <a:solidFill>
                  <a:srgbClr val="94A3B8"/>
                </a:solidFill>
                <a:latin typeface="Segoe UI"/>
              </a:rPr>
              <a:t>mohitsinghgeek@gmail.com</a:t>
            </a:r>
          </a:p>
        </p:txBody>
      </p:sp>
      <p:sp>
        <p:nvSpPr>
          <p:cNvPr id="9" name="Rounded Rectangle 8"/>
          <p:cNvSpPr/>
          <p:nvPr/>
        </p:nvSpPr>
        <p:spPr>
          <a:xfrm>
            <a:off x="6263640" y="1737360"/>
            <a:ext cx="5394960" cy="2194560"/>
          </a:xfrm>
          <a:prstGeom prst="roundRect">
            <a:avLst>
              <a:gd name="adj" fmla="val 8000"/>
            </a:avLst>
          </a:prstGeom>
          <a:solidFill>
            <a:srgbClr val="151B2B"/>
          </a:solidFill>
          <a:ln>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937760" cy="548640"/>
          </a:xfrm>
          <a:prstGeom prst="rect">
            <a:avLst/>
          </a:prstGeom>
          <a:noFill/>
        </p:spPr>
        <p:txBody>
          <a:bodyPr wrap="square">
            <a:spAutoFit/>
          </a:bodyPr>
          <a:lstStyle/>
          <a:p>
            <a:pPr algn="l"/>
            <a:r>
              <a:rPr sz="2200" b="1">
                <a:solidFill>
                  <a:srgbClr val="818CF8"/>
                </a:solidFill>
                <a:latin typeface="Segoe UI"/>
              </a:rPr>
              <a:t>Shanu Gupta - Frontend Designer</a:t>
            </a:r>
          </a:p>
        </p:txBody>
      </p:sp>
      <p:sp>
        <p:nvSpPr>
          <p:cNvPr id="11" name="TextBox 10"/>
          <p:cNvSpPr txBox="1"/>
          <p:nvPr/>
        </p:nvSpPr>
        <p:spPr>
          <a:xfrm>
            <a:off x="6492240" y="2514600"/>
            <a:ext cx="4937760" cy="1280160"/>
          </a:xfrm>
          <a:prstGeom prst="rect">
            <a:avLst/>
          </a:prstGeom>
          <a:noFill/>
        </p:spPr>
        <p:txBody>
          <a:bodyPr wrap="square">
            <a:spAutoFit/>
          </a:bodyPr>
          <a:lstStyle/>
          <a:p>
            <a:pPr algn="l"/>
            <a:r>
              <a:rPr sz="1500" b="0">
                <a:solidFill>
                  <a:srgbClr val="94A3B8"/>
                </a:solidFill>
                <a:latin typeface="Segoe UI"/>
              </a:rPr>
              <a:t>Designs the screens a learner uses:</a:t>
            </a:r>
          </a:p>
          <a:p>
            <a:pPr algn="l"/>
            <a:r>
              <a:rPr sz="1500" b="0">
                <a:solidFill>
                  <a:srgbClr val="94A3B8"/>
                </a:solidFill>
                <a:latin typeface="Segoe UI"/>
              </a:rPr>
              <a:t>the lesson, the proof, and the voice.</a:t>
            </a:r>
          </a:p>
        </p:txBody>
      </p:sp>
      <p:sp>
        <p:nvSpPr>
          <p:cNvPr id="12" name="Rounded Rectangle 11"/>
          <p:cNvSpPr/>
          <p:nvPr/>
        </p:nvSpPr>
        <p:spPr>
          <a:xfrm>
            <a:off x="548640" y="4206240"/>
            <a:ext cx="2606040" cy="12344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297680"/>
            <a:ext cx="2606040" cy="640080"/>
          </a:xfrm>
          <a:prstGeom prst="rect">
            <a:avLst/>
          </a:prstGeom>
          <a:noFill/>
        </p:spPr>
        <p:txBody>
          <a:bodyPr wrap="square">
            <a:spAutoFit/>
          </a:bodyPr>
          <a:lstStyle/>
          <a:p>
            <a:pPr algn="ctr"/>
            <a:r>
              <a:rPr sz="2800" b="1">
                <a:solidFill>
                  <a:srgbClr val="34D399"/>
                </a:solidFill>
                <a:latin typeface="Segoe UI"/>
              </a:rPr>
              <a:t>Live</a:t>
            </a:r>
          </a:p>
        </p:txBody>
      </p:sp>
      <p:sp>
        <p:nvSpPr>
          <p:cNvPr id="14" name="TextBox 13"/>
          <p:cNvSpPr txBox="1"/>
          <p:nvPr/>
        </p:nvSpPr>
        <p:spPr>
          <a:xfrm>
            <a:off x="548640" y="4937760"/>
            <a:ext cx="2606040" cy="365760"/>
          </a:xfrm>
          <a:prstGeom prst="rect">
            <a:avLst/>
          </a:prstGeom>
          <a:noFill/>
        </p:spPr>
        <p:txBody>
          <a:bodyPr wrap="square">
            <a:spAutoFit/>
          </a:bodyPr>
          <a:lstStyle/>
          <a:p>
            <a:pPr algn="ctr"/>
            <a:r>
              <a:rPr sz="1300" b="0">
                <a:solidFill>
                  <a:srgbClr val="94A3B8"/>
                </a:solidFill>
                <a:latin typeface="Segoe UI"/>
              </a:rPr>
              <a:t>on Google Cloud Run</a:t>
            </a:r>
          </a:p>
        </p:txBody>
      </p:sp>
      <p:sp>
        <p:nvSpPr>
          <p:cNvPr id="15" name="Rounded Rectangle 14"/>
          <p:cNvSpPr/>
          <p:nvPr/>
        </p:nvSpPr>
        <p:spPr>
          <a:xfrm>
            <a:off x="3383280" y="4206240"/>
            <a:ext cx="2606040" cy="12344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4297680"/>
            <a:ext cx="2606040" cy="640080"/>
          </a:xfrm>
          <a:prstGeom prst="rect">
            <a:avLst/>
          </a:prstGeom>
          <a:noFill/>
        </p:spPr>
        <p:txBody>
          <a:bodyPr wrap="square">
            <a:spAutoFit/>
          </a:bodyPr>
          <a:lstStyle/>
          <a:p>
            <a:pPr algn="ctr"/>
            <a:r>
              <a:rPr sz="2800" b="1">
                <a:solidFill>
                  <a:srgbClr val="34D399"/>
                </a:solidFill>
                <a:latin typeface="Segoe UI"/>
              </a:rPr>
              <a:t>25 / 25</a:t>
            </a:r>
          </a:p>
        </p:txBody>
      </p:sp>
      <p:sp>
        <p:nvSpPr>
          <p:cNvPr id="17" name="TextBox 16"/>
          <p:cNvSpPr txBox="1"/>
          <p:nvPr/>
        </p:nvSpPr>
        <p:spPr>
          <a:xfrm>
            <a:off x="3383280" y="4937760"/>
            <a:ext cx="2606040" cy="365760"/>
          </a:xfrm>
          <a:prstGeom prst="rect">
            <a:avLst/>
          </a:prstGeom>
          <a:noFill/>
        </p:spPr>
        <p:txBody>
          <a:bodyPr wrap="square">
            <a:spAutoFit/>
          </a:bodyPr>
          <a:lstStyle/>
          <a:p>
            <a:pPr algn="ctr"/>
            <a:r>
              <a:rPr sz="1300" b="0">
                <a:solidFill>
                  <a:srgbClr val="94A3B8"/>
                </a:solidFill>
                <a:latin typeface="Segoe UI"/>
              </a:rPr>
              <a:t>eval cases grounded</a:t>
            </a:r>
          </a:p>
        </p:txBody>
      </p:sp>
      <p:sp>
        <p:nvSpPr>
          <p:cNvPr id="18" name="Rounded Rectangle 17"/>
          <p:cNvSpPr/>
          <p:nvPr/>
        </p:nvSpPr>
        <p:spPr>
          <a:xfrm>
            <a:off x="6217920" y="4206240"/>
            <a:ext cx="2606040" cy="12344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297680"/>
            <a:ext cx="2606040" cy="640080"/>
          </a:xfrm>
          <a:prstGeom prst="rect">
            <a:avLst/>
          </a:prstGeom>
          <a:noFill/>
        </p:spPr>
        <p:txBody>
          <a:bodyPr wrap="square">
            <a:spAutoFit/>
          </a:bodyPr>
          <a:lstStyle/>
          <a:p>
            <a:pPr algn="ctr"/>
            <a:r>
              <a:rPr sz="2800" b="1">
                <a:solidFill>
                  <a:srgbClr val="34D399"/>
                </a:solidFill>
                <a:latin typeface="Segoe UI"/>
              </a:rPr>
              <a:t>0%</a:t>
            </a:r>
          </a:p>
        </p:txBody>
      </p:sp>
      <p:sp>
        <p:nvSpPr>
          <p:cNvPr id="20" name="TextBox 19"/>
          <p:cNvSpPr txBox="1"/>
          <p:nvPr/>
        </p:nvSpPr>
        <p:spPr>
          <a:xfrm>
            <a:off x="6217920" y="4937760"/>
            <a:ext cx="2606040" cy="365760"/>
          </a:xfrm>
          <a:prstGeom prst="rect">
            <a:avLst/>
          </a:prstGeom>
          <a:noFill/>
        </p:spPr>
        <p:txBody>
          <a:bodyPr wrap="square">
            <a:spAutoFit/>
          </a:bodyPr>
          <a:lstStyle/>
          <a:p>
            <a:pPr algn="ctr"/>
            <a:r>
              <a:rPr sz="1300" b="0">
                <a:solidFill>
                  <a:srgbClr val="94A3B8"/>
                </a:solidFill>
                <a:latin typeface="Segoe UI"/>
              </a:rPr>
              <a:t>invented answers</a:t>
            </a:r>
          </a:p>
        </p:txBody>
      </p:sp>
      <p:sp>
        <p:nvSpPr>
          <p:cNvPr id="21" name="Rounded Rectangle 20"/>
          <p:cNvSpPr/>
          <p:nvPr/>
        </p:nvSpPr>
        <p:spPr>
          <a:xfrm>
            <a:off x="9052560" y="4206240"/>
            <a:ext cx="2606040" cy="1234440"/>
          </a:xfrm>
          <a:prstGeom prst="roundRect">
            <a:avLst>
              <a:gd name="adj" fmla="val 8000"/>
            </a:avLst>
          </a:prstGeom>
          <a:solidFill>
            <a:srgbClr val="151B2B"/>
          </a:solidFill>
          <a:ln>
            <a:solidFill>
              <a:srgbClr val="2A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4297680"/>
            <a:ext cx="2606040" cy="640080"/>
          </a:xfrm>
          <a:prstGeom prst="rect">
            <a:avLst/>
          </a:prstGeom>
          <a:noFill/>
        </p:spPr>
        <p:txBody>
          <a:bodyPr wrap="square">
            <a:spAutoFit/>
          </a:bodyPr>
          <a:lstStyle/>
          <a:p>
            <a:pPr algn="ctr"/>
            <a:r>
              <a:rPr sz="2800" b="1">
                <a:solidFill>
                  <a:srgbClr val="34D399"/>
                </a:solidFill>
                <a:latin typeface="Segoe UI"/>
              </a:rPr>
              <a:t>EN · HI</a:t>
            </a:r>
          </a:p>
        </p:txBody>
      </p:sp>
      <p:sp>
        <p:nvSpPr>
          <p:cNvPr id="23" name="TextBox 22"/>
          <p:cNvSpPr txBox="1"/>
          <p:nvPr/>
        </p:nvSpPr>
        <p:spPr>
          <a:xfrm>
            <a:off x="9052560" y="4937760"/>
            <a:ext cx="2606040" cy="365760"/>
          </a:xfrm>
          <a:prstGeom prst="rect">
            <a:avLst/>
          </a:prstGeom>
          <a:noFill/>
        </p:spPr>
        <p:txBody>
          <a:bodyPr wrap="square">
            <a:spAutoFit/>
          </a:bodyPr>
          <a:lstStyle/>
          <a:p>
            <a:pPr algn="ctr"/>
            <a:r>
              <a:rPr sz="1300" b="0">
                <a:solidFill>
                  <a:srgbClr val="94A3B8"/>
                </a:solidFill>
                <a:latin typeface="Segoe UI"/>
              </a:rPr>
              <a:t>voice in &amp; out</a:t>
            </a:r>
          </a:p>
        </p:txBody>
      </p:sp>
      <p:sp>
        <p:nvSpPr>
          <p:cNvPr id="24" name="TextBox 23"/>
          <p:cNvSpPr txBox="1"/>
          <p:nvPr/>
        </p:nvSpPr>
        <p:spPr>
          <a:xfrm>
            <a:off x="548640" y="5669280"/>
            <a:ext cx="11064240" cy="548640"/>
          </a:xfrm>
          <a:prstGeom prst="rect">
            <a:avLst/>
          </a:prstGeom>
          <a:noFill/>
        </p:spPr>
        <p:txBody>
          <a:bodyPr wrap="square">
            <a:spAutoFit/>
          </a:bodyPr>
          <a:lstStyle/>
          <a:p>
            <a:pPr algn="ctr"/>
            <a:r>
              <a:rPr sz="2000" b="1">
                <a:solidFill>
                  <a:srgbClr val="FFFFFF"/>
                </a:solidFill>
                <a:latin typeface="Segoe UI"/>
              </a:rPr>
              <a:t>Not a tutor. A compass - every answer anchored to your video, with proof.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